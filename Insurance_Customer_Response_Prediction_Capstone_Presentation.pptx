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9"/>
  </p:notesMasterIdLst>
  <p:sldIdLst>
    <p:sldId id="256" r:id="rId2"/>
    <p:sldId id="257" r:id="rId3"/>
    <p:sldId id="258" r:id="rId4"/>
    <p:sldId id="259" r:id="rId5"/>
    <p:sldId id="260" r:id="rId6"/>
    <p:sldId id="261" r:id="rId7"/>
    <p:sldId id="277" r:id="rId8"/>
    <p:sldId id="278" r:id="rId9"/>
    <p:sldId id="279" r:id="rId10"/>
    <p:sldId id="280" r:id="rId11"/>
    <p:sldId id="281" r:id="rId12"/>
    <p:sldId id="282"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6" r:id="rId26"/>
    <p:sldId id="274" r:id="rId27"/>
    <p:sldId id="27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75D"/>
    <a:srgbClr val="333F50"/>
    <a:srgbClr val="8497B0"/>
    <a:srgbClr val="8FAADC"/>
    <a:srgbClr val="2F5597"/>
    <a:srgbClr val="626CC7"/>
    <a:srgbClr val="323B8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67" d="100"/>
          <a:sy n="67" d="100"/>
        </p:scale>
        <p:origin x="762" y="60"/>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26-09-2026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82A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148840"/>
            <a:ext cx="8961120" cy="1234440"/>
          </a:xfrm>
          <a:prstGeom prst="rect">
            <a:avLst/>
          </a:prstGeom>
          <a:noFill/>
        </p:spPr>
        <p:txBody>
          <a:bodyPr wrap="square" lIns="54864" tIns="54864" rIns="54864" bIns="54864">
            <a:spAutoFit/>
          </a:bodyPr>
          <a:lstStyle/>
          <a:p>
            <a:pPr algn="ctr"/>
            <a:r>
              <a:rPr sz="3000" b="1">
                <a:solidFill>
                  <a:srgbClr val="FFFFFF"/>
                </a:solidFill>
                <a:latin typeface="Aptos"/>
              </a:rPr>
              <a:t>Insurance Customer Response Prediction</a:t>
            </a:r>
            <a:br/>
            <a:r>
              <a:rPr sz="3000" b="1">
                <a:solidFill>
                  <a:srgbClr val="FFFFFF"/>
                </a:solidFill>
                <a:latin typeface="Aptos"/>
              </a:rPr>
              <a:t>Using Machine Learning</a:t>
            </a:r>
          </a:p>
        </p:txBody>
      </p:sp>
      <p:sp>
        <p:nvSpPr>
          <p:cNvPr id="4" name="TextBox 3"/>
          <p:cNvSpPr txBox="1"/>
          <p:nvPr/>
        </p:nvSpPr>
        <p:spPr>
          <a:xfrm>
            <a:off x="2194560" y="3886200"/>
            <a:ext cx="6675120" cy="502920"/>
          </a:xfrm>
          <a:prstGeom prst="rect">
            <a:avLst/>
          </a:prstGeom>
          <a:noFill/>
        </p:spPr>
        <p:txBody>
          <a:bodyPr wrap="square" lIns="54864" tIns="54864" rIns="54864" bIns="54864">
            <a:spAutoFit/>
          </a:bodyPr>
          <a:lstStyle/>
          <a:p>
            <a:pPr algn="ctr"/>
            <a:r>
              <a:rPr sz="1700" b="0">
                <a:solidFill>
                  <a:srgbClr val="FFFFFF"/>
                </a:solidFill>
                <a:latin typeface="Aptos"/>
              </a:rPr>
              <a:t>Capstone Project | End-to-End Machine Learning Workflow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Agenda</a:t>
            </a:r>
          </a:p>
        </p:txBody>
      </p:sp>
      <p:sp>
        <p:nvSpPr>
          <p:cNvPr id="3" name="Content Placeholder 2"/>
          <p:cNvSpPr>
            <a:spLocks noGrp="1"/>
          </p:cNvSpPr>
          <p:nvPr>
            <p:ph idx="1"/>
          </p:nvPr>
        </p:nvSpPr>
        <p:spPr/>
        <p:txBody>
          <a:bodyPr wrap="square"/>
          <a:lstStyle/>
          <a:p>
            <a:pPr>
              <a:spcAft>
                <a:spcPts val="700"/>
              </a:spcAft>
            </a:pPr>
            <a:r>
              <a:rPr sz="1700">
                <a:solidFill>
                  <a:srgbClr val="20242D"/>
                </a:solidFill>
                <a:latin typeface="Aptos"/>
              </a:rPr>
              <a:t>1. Business problem and project objective</a:t>
            </a:r>
          </a:p>
          <a:p>
            <a:pPr>
              <a:spcAft>
                <a:spcPts val="700"/>
              </a:spcAft>
            </a:pPr>
            <a:r>
              <a:rPr sz="1700">
                <a:solidFill>
                  <a:srgbClr val="20242D"/>
                </a:solidFill>
                <a:latin typeface="Aptos"/>
              </a:rPr>
              <a:t>2. Dataset understanding and exploratory data analysis</a:t>
            </a:r>
          </a:p>
          <a:p>
            <a:pPr>
              <a:spcAft>
                <a:spcPts val="700"/>
              </a:spcAft>
            </a:pPr>
            <a:r>
              <a:rPr sz="1700">
                <a:solidFill>
                  <a:srgbClr val="20242D"/>
                </a:solidFill>
                <a:latin typeface="Aptos"/>
              </a:rPr>
              <a:t>3. Data preprocessing and feature engineering</a:t>
            </a:r>
          </a:p>
          <a:p>
            <a:pPr>
              <a:spcAft>
                <a:spcPts val="700"/>
              </a:spcAft>
            </a:pPr>
            <a:r>
              <a:rPr sz="1700">
                <a:solidFill>
                  <a:srgbClr val="20242D"/>
                </a:solidFill>
                <a:latin typeface="Aptos"/>
              </a:rPr>
              <a:t>4. Model building: Logistic Regression, Decision Tree and Random Forest</a:t>
            </a:r>
          </a:p>
          <a:p>
            <a:pPr>
              <a:spcAft>
                <a:spcPts val="700"/>
              </a:spcAft>
            </a:pPr>
            <a:r>
              <a:rPr sz="1700">
                <a:solidFill>
                  <a:srgbClr val="20242D"/>
                </a:solidFill>
                <a:latin typeface="Aptos"/>
              </a:rPr>
              <a:t>5. Model evaluation and handling class imbalance</a:t>
            </a:r>
          </a:p>
          <a:p>
            <a:pPr>
              <a:spcAft>
                <a:spcPts val="700"/>
              </a:spcAft>
            </a:pPr>
            <a:r>
              <a:rPr sz="1700">
                <a:solidFill>
                  <a:srgbClr val="20242D"/>
                </a:solidFill>
                <a:latin typeface="Aptos"/>
              </a:rPr>
              <a:t>6. Random Forest hyperparameter tuning</a:t>
            </a:r>
          </a:p>
          <a:p>
            <a:pPr>
              <a:spcAft>
                <a:spcPts val="700"/>
              </a:spcAft>
            </a:pPr>
            <a:r>
              <a:rPr sz="1700">
                <a:solidFill>
                  <a:srgbClr val="20242D"/>
                </a:solidFill>
                <a:latin typeface="Aptos"/>
              </a:rPr>
              <a:t>7. Model saving, prediction workflow and deployment</a:t>
            </a:r>
          </a:p>
          <a:p>
            <a:pPr>
              <a:spcAft>
                <a:spcPts val="700"/>
              </a:spcAft>
            </a:pPr>
            <a:r>
              <a:rPr sz="1700">
                <a:solidFill>
                  <a:srgbClr val="20242D"/>
                </a:solidFill>
                <a:latin typeface="Aptos"/>
              </a:rPr>
              <a:t>8. Key findings, limitations and conclusion</a:t>
            </a:r>
          </a:p>
        </p:txBody>
      </p:sp>
      <p:sp>
        <p:nvSpPr>
          <p:cNvPr id="4" name="TextBox 3"/>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1. Business Problem &amp; Objective</a:t>
            </a:r>
          </a:p>
        </p:txBody>
      </p:sp>
      <p:sp>
        <p:nvSpPr>
          <p:cNvPr id="3" name="Content Placeholder 2"/>
          <p:cNvSpPr>
            <a:spLocks noGrp="1"/>
          </p:cNvSpPr>
          <p:nvPr>
            <p:ph idx="1"/>
          </p:nvPr>
        </p:nvSpPr>
        <p:spPr/>
        <p:txBody>
          <a:bodyPr wrap="square"/>
          <a:lstStyle/>
          <a:p>
            <a:pPr>
              <a:spcAft>
                <a:spcPts val="700"/>
              </a:spcAft>
            </a:pPr>
            <a:r>
              <a:rPr sz="1800">
                <a:solidFill>
                  <a:srgbClr val="20242D"/>
                </a:solidFill>
                <a:latin typeface="Aptos"/>
              </a:rPr>
              <a:t>Insurance companies want to identify customers who are likely to respond positively to a vehicle insurance offer.</a:t>
            </a:r>
          </a:p>
          <a:p>
            <a:pPr>
              <a:spcAft>
                <a:spcPts val="700"/>
              </a:spcAft>
            </a:pPr>
            <a:r>
              <a:rPr sz="1800">
                <a:solidFill>
                  <a:srgbClr val="20242D"/>
                </a:solidFill>
                <a:latin typeface="Aptos"/>
              </a:rPr>
              <a:t>The project treats customer response as a binary classification problem: Response = 1 (Yes) or 0 (No).</a:t>
            </a:r>
          </a:p>
          <a:p>
            <a:pPr>
              <a:spcAft>
                <a:spcPts val="700"/>
              </a:spcAft>
            </a:pPr>
            <a:r>
              <a:rPr sz="1800">
                <a:solidFill>
                  <a:srgbClr val="20242D"/>
                </a:solidFill>
                <a:latin typeface="Aptos"/>
              </a:rPr>
              <a:t>Goal: build a machine-learning model that estimates response probability from customer and policy attributes.</a:t>
            </a:r>
          </a:p>
          <a:p>
            <a:pPr>
              <a:spcAft>
                <a:spcPts val="700"/>
              </a:spcAft>
            </a:pPr>
            <a:r>
              <a:rPr sz="1800">
                <a:solidFill>
                  <a:srgbClr val="20242D"/>
                </a:solidFill>
                <a:latin typeface="Aptos"/>
              </a:rPr>
              <a:t>The model can support more targeted outreach by prioritizing customers with higher predicted response probability.</a:t>
            </a:r>
          </a:p>
        </p:txBody>
      </p:sp>
      <p:sp>
        <p:nvSpPr>
          <p:cNvPr id="4" name="Rounded Rectangle 3"/>
          <p:cNvSpPr/>
          <p:nvPr/>
        </p:nvSpPr>
        <p:spPr>
          <a:xfrm>
            <a:off x="6720840" y="4434840"/>
            <a:ext cx="3977639" cy="114300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720840" y="4434840"/>
            <a:ext cx="73152" cy="11430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85431" y="4562855"/>
            <a:ext cx="3703320" cy="365760"/>
          </a:xfrm>
          <a:prstGeom prst="rect">
            <a:avLst/>
          </a:prstGeom>
          <a:noFill/>
        </p:spPr>
        <p:txBody>
          <a:bodyPr wrap="square" lIns="54864" tIns="54864" rIns="54864" bIns="54864">
            <a:spAutoFit/>
          </a:bodyPr>
          <a:lstStyle/>
          <a:p>
            <a:pPr algn="l"/>
            <a:r>
              <a:rPr sz="1700" b="1">
                <a:solidFill>
                  <a:srgbClr val="1F1F5B"/>
                </a:solidFill>
                <a:latin typeface="Aptos"/>
              </a:rPr>
              <a:t>Target variable</a:t>
            </a:r>
          </a:p>
        </p:txBody>
      </p:sp>
      <p:sp>
        <p:nvSpPr>
          <p:cNvPr id="7" name="TextBox 6"/>
          <p:cNvSpPr txBox="1"/>
          <p:nvPr/>
        </p:nvSpPr>
        <p:spPr>
          <a:xfrm>
            <a:off x="6885431" y="4965192"/>
            <a:ext cx="3703320" cy="521207"/>
          </a:xfrm>
          <a:prstGeom prst="rect">
            <a:avLst/>
          </a:prstGeom>
          <a:noFill/>
        </p:spPr>
        <p:txBody>
          <a:bodyPr wrap="square" lIns="54864" tIns="54864" rIns="54864" bIns="54864">
            <a:spAutoFit/>
          </a:bodyPr>
          <a:lstStyle/>
          <a:p>
            <a:pPr algn="l"/>
            <a:r>
              <a:rPr sz="1400" b="0">
                <a:solidFill>
                  <a:srgbClr val="20242D"/>
                </a:solidFill>
                <a:latin typeface="Aptos"/>
              </a:rPr>
              <a:t>Response: 0 = No response, 1 = Positive response</a:t>
            </a:r>
          </a:p>
        </p:txBody>
      </p:sp>
      <p:sp>
        <p:nvSpPr>
          <p:cNvPr id="8" name="TextBox 7"/>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dirty="0">
                <a:solidFill>
                  <a:srgbClr val="1F1F5B"/>
                </a:solidFill>
                <a:latin typeface="Aptos"/>
              </a:rPr>
              <a:t>2. Dataset Overview</a:t>
            </a:r>
          </a:p>
        </p:txBody>
      </p:sp>
      <p:sp>
        <p:nvSpPr>
          <p:cNvPr id="3" name="Content Placeholder 2"/>
          <p:cNvSpPr>
            <a:spLocks noGrp="1"/>
          </p:cNvSpPr>
          <p:nvPr>
            <p:ph idx="1"/>
          </p:nvPr>
        </p:nvSpPr>
        <p:spPr/>
        <p:txBody>
          <a:bodyPr wrap="square"/>
          <a:lstStyle/>
          <a:p>
            <a:pPr>
              <a:spcAft>
                <a:spcPts val="700"/>
              </a:spcAft>
            </a:pPr>
            <a:r>
              <a:rPr sz="1700" dirty="0">
                <a:solidFill>
                  <a:srgbClr val="20242D"/>
                </a:solidFill>
                <a:latin typeface="Aptos"/>
              </a:rPr>
              <a:t>Dataset size: 381,109 customer records and 12 original columns.</a:t>
            </a:r>
          </a:p>
          <a:p>
            <a:pPr>
              <a:spcAft>
                <a:spcPts val="700"/>
              </a:spcAft>
            </a:pPr>
            <a:r>
              <a:rPr sz="1700" dirty="0">
                <a:solidFill>
                  <a:srgbClr val="20242D"/>
                </a:solidFill>
                <a:latin typeface="Aptos"/>
              </a:rPr>
              <a:t>Features include demographic, vehicle, insurance-history and policy-related attributes.</a:t>
            </a:r>
          </a:p>
          <a:p>
            <a:pPr>
              <a:spcAft>
                <a:spcPts val="700"/>
              </a:spcAft>
            </a:pPr>
            <a:r>
              <a:rPr sz="1700" dirty="0">
                <a:solidFill>
                  <a:srgbClr val="20242D"/>
                </a:solidFill>
                <a:latin typeface="Aptos"/>
              </a:rPr>
              <a:t>Original columns: id, Gender, Age, </a:t>
            </a:r>
            <a:r>
              <a:rPr sz="1700" dirty="0" err="1">
                <a:solidFill>
                  <a:srgbClr val="20242D"/>
                </a:solidFill>
                <a:latin typeface="Aptos"/>
              </a:rPr>
              <a:t>Driving_License</a:t>
            </a:r>
            <a:r>
              <a:rPr sz="1700" dirty="0">
                <a:solidFill>
                  <a:srgbClr val="20242D"/>
                </a:solidFill>
                <a:latin typeface="Aptos"/>
              </a:rPr>
              <a:t>, </a:t>
            </a:r>
            <a:r>
              <a:rPr sz="1700" dirty="0" err="1">
                <a:solidFill>
                  <a:srgbClr val="20242D"/>
                </a:solidFill>
                <a:latin typeface="Aptos"/>
              </a:rPr>
              <a:t>Region_Code</a:t>
            </a:r>
            <a:r>
              <a:rPr sz="1700" dirty="0">
                <a:solidFill>
                  <a:srgbClr val="20242D"/>
                </a:solidFill>
                <a:latin typeface="Aptos"/>
              </a:rPr>
              <a:t>, </a:t>
            </a:r>
            <a:r>
              <a:rPr sz="1700" dirty="0" err="1">
                <a:solidFill>
                  <a:srgbClr val="20242D"/>
                </a:solidFill>
                <a:latin typeface="Aptos"/>
              </a:rPr>
              <a:t>Previously_Insured</a:t>
            </a:r>
            <a:r>
              <a:rPr sz="1700" dirty="0">
                <a:solidFill>
                  <a:srgbClr val="20242D"/>
                </a:solidFill>
                <a:latin typeface="Aptos"/>
              </a:rPr>
              <a:t>, </a:t>
            </a:r>
            <a:r>
              <a:rPr sz="1700" dirty="0" err="1">
                <a:solidFill>
                  <a:srgbClr val="20242D"/>
                </a:solidFill>
                <a:latin typeface="Aptos"/>
              </a:rPr>
              <a:t>Vehicle_Age</a:t>
            </a:r>
            <a:r>
              <a:rPr sz="1700" dirty="0">
                <a:solidFill>
                  <a:srgbClr val="20242D"/>
                </a:solidFill>
                <a:latin typeface="Aptos"/>
              </a:rPr>
              <a:t>, </a:t>
            </a:r>
            <a:r>
              <a:rPr sz="1700" dirty="0" err="1">
                <a:solidFill>
                  <a:srgbClr val="20242D"/>
                </a:solidFill>
                <a:latin typeface="Aptos"/>
              </a:rPr>
              <a:t>Vehicle_Damage</a:t>
            </a:r>
            <a:r>
              <a:rPr sz="1700" dirty="0">
                <a:solidFill>
                  <a:srgbClr val="20242D"/>
                </a:solidFill>
                <a:latin typeface="Aptos"/>
              </a:rPr>
              <a:t>, </a:t>
            </a:r>
            <a:r>
              <a:rPr sz="1700" dirty="0" err="1">
                <a:solidFill>
                  <a:srgbClr val="20242D"/>
                </a:solidFill>
                <a:latin typeface="Aptos"/>
              </a:rPr>
              <a:t>Annual_Premium</a:t>
            </a:r>
            <a:r>
              <a:rPr sz="1700" dirty="0">
                <a:solidFill>
                  <a:srgbClr val="20242D"/>
                </a:solidFill>
                <a:latin typeface="Aptos"/>
              </a:rPr>
              <a:t>, </a:t>
            </a:r>
            <a:r>
              <a:rPr sz="1700" dirty="0" err="1">
                <a:solidFill>
                  <a:srgbClr val="20242D"/>
                </a:solidFill>
                <a:latin typeface="Aptos"/>
              </a:rPr>
              <a:t>Policy_Sales_Channel</a:t>
            </a:r>
            <a:r>
              <a:rPr sz="1700" dirty="0">
                <a:solidFill>
                  <a:srgbClr val="20242D"/>
                </a:solidFill>
                <a:latin typeface="Aptos"/>
              </a:rPr>
              <a:t>, Vintage and Response.</a:t>
            </a:r>
          </a:p>
          <a:p>
            <a:pPr>
              <a:spcAft>
                <a:spcPts val="700"/>
              </a:spcAft>
            </a:pPr>
            <a:r>
              <a:rPr sz="1700" dirty="0">
                <a:solidFill>
                  <a:srgbClr val="20242D"/>
                </a:solidFill>
                <a:latin typeface="Aptos"/>
              </a:rPr>
              <a:t>Data types: 6 integer, 3 float and 3 categorical/object columns.</a:t>
            </a:r>
          </a:p>
        </p:txBody>
      </p:sp>
      <p:sp>
        <p:nvSpPr>
          <p:cNvPr id="4" name="Rounded Rectangle 3"/>
          <p:cNvSpPr/>
          <p:nvPr/>
        </p:nvSpPr>
        <p:spPr>
          <a:xfrm>
            <a:off x="6766560" y="4251960"/>
            <a:ext cx="3840480" cy="141732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766560" y="4251960"/>
            <a:ext cx="73152" cy="1417320"/>
          </a:xfrm>
          <a:prstGeom prst="rect">
            <a:avLst/>
          </a:prstGeom>
          <a:solidFill>
            <a:srgbClr val="106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31152" y="4379976"/>
            <a:ext cx="3566160" cy="365760"/>
          </a:xfrm>
          <a:prstGeom prst="rect">
            <a:avLst/>
          </a:prstGeom>
          <a:noFill/>
        </p:spPr>
        <p:txBody>
          <a:bodyPr wrap="square" lIns="54864" tIns="54864" rIns="54864" bIns="54864">
            <a:spAutoFit/>
          </a:bodyPr>
          <a:lstStyle/>
          <a:p>
            <a:pPr algn="l"/>
            <a:r>
              <a:rPr sz="1700" b="1">
                <a:solidFill>
                  <a:srgbClr val="1F1F5B"/>
                </a:solidFill>
                <a:latin typeface="Aptos"/>
              </a:rPr>
              <a:t>Dataset scale</a:t>
            </a:r>
          </a:p>
        </p:txBody>
      </p:sp>
      <p:sp>
        <p:nvSpPr>
          <p:cNvPr id="7" name="TextBox 6"/>
          <p:cNvSpPr txBox="1"/>
          <p:nvPr/>
        </p:nvSpPr>
        <p:spPr>
          <a:xfrm>
            <a:off x="6931152" y="4782312"/>
            <a:ext cx="3566160" cy="795528"/>
          </a:xfrm>
          <a:prstGeom prst="rect">
            <a:avLst/>
          </a:prstGeom>
          <a:noFill/>
        </p:spPr>
        <p:txBody>
          <a:bodyPr wrap="square" lIns="54864" tIns="54864" rIns="54864" bIns="54864">
            <a:spAutoFit/>
          </a:bodyPr>
          <a:lstStyle/>
          <a:p>
            <a:pPr algn="l"/>
            <a:r>
              <a:rPr sz="1400" b="0" dirty="0">
                <a:solidFill>
                  <a:srgbClr val="20242D"/>
                </a:solidFill>
                <a:latin typeface="Aptos"/>
              </a:rPr>
              <a:t>381,109 rows</a:t>
            </a:r>
            <a:br>
              <a:rPr dirty="0"/>
            </a:br>
            <a:r>
              <a:rPr sz="1400" b="0" dirty="0">
                <a:solidFill>
                  <a:srgbClr val="20242D"/>
                </a:solidFill>
                <a:latin typeface="Aptos"/>
              </a:rPr>
              <a:t>12 original columns</a:t>
            </a:r>
          </a:p>
        </p:txBody>
      </p:sp>
      <p:sp>
        <p:nvSpPr>
          <p:cNvPr id="8" name="Rounded Rectangle 7"/>
          <p:cNvSpPr/>
          <p:nvPr/>
        </p:nvSpPr>
        <p:spPr>
          <a:xfrm>
            <a:off x="6766560" y="5715000"/>
            <a:ext cx="3840480" cy="640080"/>
          </a:xfrm>
          <a:prstGeom prst="roundRect">
            <a:avLst>
              <a:gd name="adj" fmla="val 0"/>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766560" y="5715000"/>
            <a:ext cx="73152" cy="640080"/>
          </a:xfrm>
          <a:prstGeom prst="rect">
            <a:avLst/>
          </a:prstGeom>
          <a:solidFill>
            <a:srgbClr val="23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31152" y="5757288"/>
            <a:ext cx="3566160" cy="372410"/>
          </a:xfrm>
          <a:prstGeom prst="rect">
            <a:avLst/>
          </a:prstGeom>
          <a:noFill/>
        </p:spPr>
        <p:txBody>
          <a:bodyPr wrap="square" lIns="54864" tIns="54864" rIns="54864" bIns="54864">
            <a:spAutoFit/>
          </a:bodyPr>
          <a:lstStyle/>
          <a:p>
            <a:pPr algn="l"/>
            <a:r>
              <a:rPr sz="1700" b="1" dirty="0">
                <a:solidFill>
                  <a:srgbClr val="1F1F5B"/>
                </a:solidFill>
                <a:latin typeface="Aptos"/>
              </a:rPr>
              <a:t>Target</a:t>
            </a:r>
            <a:endParaRPr lang="en-IN" sz="1700" b="1" dirty="0">
              <a:solidFill>
                <a:srgbClr val="1F1F5B"/>
              </a:solidFill>
              <a:latin typeface="Aptos"/>
            </a:endParaRPr>
          </a:p>
        </p:txBody>
      </p:sp>
      <p:sp>
        <p:nvSpPr>
          <p:cNvPr id="11" name="TextBox 10"/>
          <p:cNvSpPr txBox="1"/>
          <p:nvPr/>
        </p:nvSpPr>
        <p:spPr>
          <a:xfrm>
            <a:off x="6931152" y="6088184"/>
            <a:ext cx="3566160" cy="18287"/>
          </a:xfrm>
          <a:prstGeom prst="rect">
            <a:avLst/>
          </a:prstGeom>
          <a:noFill/>
        </p:spPr>
        <p:txBody>
          <a:bodyPr wrap="square" lIns="54864" tIns="54864" rIns="54864" bIns="54864">
            <a:spAutoFit/>
          </a:bodyPr>
          <a:lstStyle/>
          <a:p>
            <a:pPr algn="l"/>
            <a:r>
              <a:rPr sz="1400" b="0" dirty="0">
                <a:solidFill>
                  <a:srgbClr val="20242D"/>
                </a:solidFill>
                <a:latin typeface="Aptos"/>
              </a:rPr>
              <a:t>Response is the prediction label</a:t>
            </a:r>
          </a:p>
        </p:txBody>
      </p:sp>
      <p:sp>
        <p:nvSpPr>
          <p:cNvPr id="12" name="TextBox 11"/>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3. Data Quality &amp; Class Imbalance</a:t>
            </a:r>
          </a:p>
        </p:txBody>
      </p:sp>
      <p:sp>
        <p:nvSpPr>
          <p:cNvPr id="3" name="Content Placeholder 2"/>
          <p:cNvSpPr>
            <a:spLocks noGrp="1"/>
          </p:cNvSpPr>
          <p:nvPr>
            <p:ph idx="1"/>
          </p:nvPr>
        </p:nvSpPr>
        <p:spPr>
          <a:xfrm>
            <a:off x="678884" y="1216441"/>
            <a:ext cx="10834234" cy="4856700"/>
          </a:xfrm>
        </p:spPr>
        <p:txBody>
          <a:bodyPr wrap="square"/>
          <a:lstStyle/>
          <a:p>
            <a:pPr>
              <a:spcAft>
                <a:spcPts val="700"/>
              </a:spcAft>
            </a:pPr>
            <a:r>
              <a:rPr sz="1600" dirty="0">
                <a:solidFill>
                  <a:srgbClr val="20242D"/>
                </a:solidFill>
                <a:latin typeface="Aptos"/>
              </a:rPr>
              <a:t>Missing-value check: 0 missing values across all 12 columns.</a:t>
            </a:r>
          </a:p>
          <a:p>
            <a:pPr>
              <a:spcAft>
                <a:spcPts val="700"/>
              </a:spcAft>
            </a:pPr>
            <a:r>
              <a:rPr sz="1600" dirty="0">
                <a:solidFill>
                  <a:srgbClr val="20242D"/>
                </a:solidFill>
                <a:latin typeface="Aptos"/>
              </a:rPr>
              <a:t>Duplicate-row check: 0 duplicate rows.</a:t>
            </a:r>
          </a:p>
          <a:p>
            <a:pPr>
              <a:spcAft>
                <a:spcPts val="700"/>
              </a:spcAft>
            </a:pPr>
            <a:r>
              <a:rPr sz="1600" dirty="0">
                <a:solidFill>
                  <a:srgbClr val="20242D"/>
                </a:solidFill>
                <a:latin typeface="Aptos"/>
              </a:rPr>
              <a:t>Response distribution is highly imbalanced: 334,399 customers (87.74%) are class 0 and 46,710 (12.26%) are class 1.</a:t>
            </a:r>
          </a:p>
          <a:p>
            <a:pPr>
              <a:spcAft>
                <a:spcPts val="700"/>
              </a:spcAft>
            </a:pPr>
            <a:r>
              <a:rPr sz="1600" dirty="0">
                <a:solidFill>
                  <a:srgbClr val="20242D"/>
                </a:solidFill>
                <a:latin typeface="Aptos"/>
              </a:rPr>
              <a:t>Because the positive class is relatively rare, accuracy alone is not sufficient for evaluating the model.</a:t>
            </a:r>
          </a:p>
          <a:p>
            <a:pPr>
              <a:spcAft>
                <a:spcPts val="700"/>
              </a:spcAft>
            </a:pPr>
            <a:r>
              <a:rPr sz="1600" dirty="0" err="1">
                <a:solidFill>
                  <a:srgbClr val="20242D"/>
                </a:solidFill>
                <a:latin typeface="Aptos"/>
              </a:rPr>
              <a:t>class_weight</a:t>
            </a:r>
            <a:r>
              <a:rPr sz="1600" dirty="0">
                <a:solidFill>
                  <a:srgbClr val="20242D"/>
                </a:solidFill>
                <a:latin typeface="Aptos"/>
              </a:rPr>
              <a:t>="balanced" was used for the classification models to give more importance to the minority class.</a:t>
            </a:r>
          </a:p>
        </p:txBody>
      </p:sp>
      <p:pic>
        <p:nvPicPr>
          <p:cNvPr id="4" name="Picture 3" descr="target_distribution.png"/>
          <p:cNvPicPr>
            <a:picLocks noChangeAspect="1"/>
          </p:cNvPicPr>
          <p:nvPr/>
        </p:nvPicPr>
        <p:blipFill>
          <a:blip r:embed="rId2"/>
          <a:stretch>
            <a:fillRect/>
          </a:stretch>
        </p:blipFill>
        <p:spPr>
          <a:xfrm>
            <a:off x="777240" y="3205897"/>
            <a:ext cx="5943600" cy="3053934"/>
          </a:xfrm>
          <a:prstGeom prst="rect">
            <a:avLst/>
          </a:prstGeom>
        </p:spPr>
      </p:pic>
      <p:sp>
        <p:nvSpPr>
          <p:cNvPr id="5" name="TextBox 4"/>
          <p:cNvSpPr txBox="1"/>
          <p:nvPr/>
        </p:nvSpPr>
        <p:spPr>
          <a:xfrm>
            <a:off x="6720840" y="4892040"/>
            <a:ext cx="3977639" cy="822960"/>
          </a:xfrm>
          <a:prstGeom prst="rect">
            <a:avLst/>
          </a:prstGeom>
          <a:solidFill>
            <a:srgbClr val="F3F6FA"/>
          </a:solidFill>
          <a:ln>
            <a:solidFill>
              <a:srgbClr val="F3F6FA"/>
            </a:solidFill>
          </a:ln>
        </p:spPr>
        <p:txBody>
          <a:bodyPr wrap="square" lIns="54864" tIns="54864" rIns="54864" bIns="54864">
            <a:spAutoFit/>
          </a:bodyPr>
          <a:lstStyle/>
          <a:p>
            <a:pPr algn="l"/>
            <a:r>
              <a:rPr sz="1400" b="1">
                <a:solidFill>
                  <a:srgbClr val="1F1F5B"/>
                </a:solidFill>
                <a:latin typeface="Aptos"/>
              </a:rPr>
              <a:t>Key implication:</a:t>
            </a:r>
            <a:br/>
            <a:r>
              <a:rPr sz="1400" b="1">
                <a:solidFill>
                  <a:srgbClr val="1F1F5B"/>
                </a:solidFill>
                <a:latin typeface="Aptos"/>
              </a:rPr>
              <a:t>Focus on Precision, Recall, F1 and ROC-AUC in addition to Accuracy.</a:t>
            </a:r>
          </a:p>
        </p:txBody>
      </p:sp>
      <p:sp>
        <p:nvSpPr>
          <p:cNvPr id="6" name="TextBox 5"/>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dirty="0">
                <a:solidFill>
                  <a:srgbClr val="1F1F5B"/>
                </a:solidFill>
                <a:latin typeface="Aptos"/>
              </a:rPr>
              <a:t>4. Exploratory Data Analysis — Key Findings</a:t>
            </a:r>
          </a:p>
        </p:txBody>
      </p:sp>
      <p:pic>
        <p:nvPicPr>
          <p:cNvPr id="3" name="Picture 2" descr="key_response_rates.png"/>
          <p:cNvPicPr>
            <a:picLocks noChangeAspect="1"/>
          </p:cNvPicPr>
          <p:nvPr/>
        </p:nvPicPr>
        <p:blipFill>
          <a:blip r:embed="rId2"/>
          <a:stretch>
            <a:fillRect/>
          </a:stretch>
        </p:blipFill>
        <p:spPr>
          <a:xfrm>
            <a:off x="594360" y="1143000"/>
            <a:ext cx="5394960" cy="3337560"/>
          </a:xfrm>
          <a:prstGeom prst="rect">
            <a:avLst/>
          </a:prstGeom>
        </p:spPr>
      </p:pic>
      <p:pic>
        <p:nvPicPr>
          <p:cNvPr id="4" name="Picture 3" descr="age_response_rates.png"/>
          <p:cNvPicPr>
            <a:picLocks noChangeAspect="1"/>
          </p:cNvPicPr>
          <p:nvPr/>
        </p:nvPicPr>
        <p:blipFill>
          <a:blip r:embed="rId3"/>
          <a:stretch>
            <a:fillRect/>
          </a:stretch>
        </p:blipFill>
        <p:spPr>
          <a:xfrm>
            <a:off x="6126480" y="1143000"/>
            <a:ext cx="5257800" cy="3337560"/>
          </a:xfrm>
          <a:prstGeom prst="rect">
            <a:avLst/>
          </a:prstGeom>
        </p:spPr>
      </p:pic>
      <p:sp>
        <p:nvSpPr>
          <p:cNvPr id="5" name="Rounded Rectangle 4"/>
          <p:cNvSpPr/>
          <p:nvPr/>
        </p:nvSpPr>
        <p:spPr>
          <a:xfrm>
            <a:off x="731520" y="4709160"/>
            <a:ext cx="3429000" cy="109728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4709160"/>
            <a:ext cx="73152" cy="1097280"/>
          </a:xfrm>
          <a:prstGeom prst="rect">
            <a:avLst/>
          </a:prstGeom>
          <a:solidFill>
            <a:srgbClr val="BE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4737160"/>
            <a:ext cx="3154680" cy="365760"/>
          </a:xfrm>
          <a:prstGeom prst="rect">
            <a:avLst/>
          </a:prstGeom>
          <a:noFill/>
        </p:spPr>
        <p:txBody>
          <a:bodyPr wrap="square" lIns="54864" tIns="54864" rIns="54864" bIns="54864">
            <a:spAutoFit/>
          </a:bodyPr>
          <a:lstStyle/>
          <a:p>
            <a:pPr algn="l"/>
            <a:r>
              <a:rPr sz="1700" b="1" dirty="0">
                <a:solidFill>
                  <a:srgbClr val="1F1F5B"/>
                </a:solidFill>
                <a:latin typeface="Aptos"/>
              </a:rPr>
              <a:t>Vehicle damage</a:t>
            </a:r>
          </a:p>
        </p:txBody>
      </p:sp>
      <p:sp>
        <p:nvSpPr>
          <p:cNvPr id="8" name="TextBox 7"/>
          <p:cNvSpPr txBox="1"/>
          <p:nvPr/>
        </p:nvSpPr>
        <p:spPr>
          <a:xfrm>
            <a:off x="896112" y="5053771"/>
            <a:ext cx="3154680" cy="475487"/>
          </a:xfrm>
          <a:prstGeom prst="rect">
            <a:avLst/>
          </a:prstGeom>
          <a:noFill/>
        </p:spPr>
        <p:txBody>
          <a:bodyPr wrap="square" lIns="54864" tIns="54864" rIns="54864" bIns="54864">
            <a:spAutoFit/>
          </a:bodyPr>
          <a:lstStyle/>
          <a:p>
            <a:pPr algn="l"/>
            <a:r>
              <a:rPr sz="1400" b="0" dirty="0">
                <a:solidFill>
                  <a:srgbClr val="20242D"/>
                </a:solidFill>
                <a:latin typeface="Aptos"/>
              </a:rPr>
              <a:t>Response rate is ~23.8% when damage = Yes vs ~0.5% when damage = No.</a:t>
            </a:r>
          </a:p>
        </p:txBody>
      </p:sp>
      <p:sp>
        <p:nvSpPr>
          <p:cNvPr id="9" name="Rounded Rectangle 8"/>
          <p:cNvSpPr/>
          <p:nvPr/>
        </p:nvSpPr>
        <p:spPr>
          <a:xfrm>
            <a:off x="4343400" y="4709160"/>
            <a:ext cx="3429000" cy="109728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4709160"/>
            <a:ext cx="73152" cy="1097280"/>
          </a:xfrm>
          <a:prstGeom prst="rect">
            <a:avLst/>
          </a:prstGeom>
          <a:solidFill>
            <a:srgbClr val="E28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07992" y="4751448"/>
            <a:ext cx="3154680" cy="365760"/>
          </a:xfrm>
          <a:prstGeom prst="rect">
            <a:avLst/>
          </a:prstGeom>
          <a:noFill/>
        </p:spPr>
        <p:txBody>
          <a:bodyPr wrap="square" lIns="54864" tIns="54864" rIns="54864" bIns="54864">
            <a:spAutoFit/>
          </a:bodyPr>
          <a:lstStyle/>
          <a:p>
            <a:pPr algn="l"/>
            <a:r>
              <a:rPr sz="1700" b="1" dirty="0">
                <a:solidFill>
                  <a:srgbClr val="1F1F5B"/>
                </a:solidFill>
                <a:latin typeface="Aptos"/>
              </a:rPr>
              <a:t>Previous insurance</a:t>
            </a:r>
          </a:p>
        </p:txBody>
      </p:sp>
      <p:sp>
        <p:nvSpPr>
          <p:cNvPr id="12" name="TextBox 11"/>
          <p:cNvSpPr txBox="1"/>
          <p:nvPr/>
        </p:nvSpPr>
        <p:spPr>
          <a:xfrm>
            <a:off x="4507992" y="5025192"/>
            <a:ext cx="3154680" cy="757130"/>
          </a:xfrm>
          <a:prstGeom prst="rect">
            <a:avLst/>
          </a:prstGeom>
          <a:noFill/>
        </p:spPr>
        <p:txBody>
          <a:bodyPr wrap="square" lIns="54864" tIns="54864" rIns="54864" bIns="54864">
            <a:spAutoFit/>
          </a:bodyPr>
          <a:lstStyle/>
          <a:p>
            <a:pPr algn="l"/>
            <a:r>
              <a:rPr sz="1400" b="0" dirty="0">
                <a:solidFill>
                  <a:srgbClr val="20242D"/>
                </a:solidFill>
                <a:latin typeface="Aptos"/>
              </a:rPr>
              <a:t>Response rate is ~22.5% when not previously insured vs ~0.09% when</a:t>
            </a:r>
            <a:endParaRPr lang="en-IN" sz="1400" b="0" dirty="0">
              <a:solidFill>
                <a:srgbClr val="20242D"/>
              </a:solidFill>
              <a:latin typeface="Aptos"/>
            </a:endParaRPr>
          </a:p>
          <a:p>
            <a:pPr algn="l"/>
            <a:r>
              <a:rPr sz="1400" b="0" dirty="0">
                <a:solidFill>
                  <a:srgbClr val="20242D"/>
                </a:solidFill>
                <a:latin typeface="Aptos"/>
              </a:rPr>
              <a:t>previously insured.</a:t>
            </a:r>
          </a:p>
        </p:txBody>
      </p:sp>
      <p:sp>
        <p:nvSpPr>
          <p:cNvPr id="13" name="Rounded Rectangle 12"/>
          <p:cNvSpPr/>
          <p:nvPr/>
        </p:nvSpPr>
        <p:spPr>
          <a:xfrm>
            <a:off x="7955279" y="4709160"/>
            <a:ext cx="3429000" cy="109728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55279" y="4709160"/>
            <a:ext cx="73152" cy="1097280"/>
          </a:xfrm>
          <a:prstGeom prst="rect">
            <a:avLst/>
          </a:prstGeom>
          <a:solidFill>
            <a:srgbClr val="23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19871" y="4737160"/>
            <a:ext cx="3154680" cy="365760"/>
          </a:xfrm>
          <a:prstGeom prst="rect">
            <a:avLst/>
          </a:prstGeom>
          <a:noFill/>
        </p:spPr>
        <p:txBody>
          <a:bodyPr wrap="square" lIns="54864" tIns="54864" rIns="54864" bIns="54864">
            <a:spAutoFit/>
          </a:bodyPr>
          <a:lstStyle/>
          <a:p>
            <a:pPr algn="l"/>
            <a:r>
              <a:rPr sz="1700" b="1" dirty="0">
                <a:solidFill>
                  <a:srgbClr val="1F1F5B"/>
                </a:solidFill>
                <a:latin typeface="Aptos"/>
              </a:rPr>
              <a:t>Age pattern</a:t>
            </a:r>
          </a:p>
        </p:txBody>
      </p:sp>
      <p:sp>
        <p:nvSpPr>
          <p:cNvPr id="16" name="TextBox 15"/>
          <p:cNvSpPr txBox="1"/>
          <p:nvPr/>
        </p:nvSpPr>
        <p:spPr>
          <a:xfrm>
            <a:off x="8119871" y="4996624"/>
            <a:ext cx="3154680" cy="475487"/>
          </a:xfrm>
          <a:prstGeom prst="rect">
            <a:avLst/>
          </a:prstGeom>
          <a:noFill/>
        </p:spPr>
        <p:txBody>
          <a:bodyPr wrap="square" lIns="54864" tIns="54864" rIns="54864" bIns="54864">
            <a:spAutoFit/>
          </a:bodyPr>
          <a:lstStyle/>
          <a:p>
            <a:pPr algn="l"/>
            <a:r>
              <a:rPr sz="1400" b="0" dirty="0">
                <a:solidFill>
                  <a:srgbClr val="20242D"/>
                </a:solidFill>
                <a:latin typeface="Aptos"/>
              </a:rPr>
              <a:t>Middle-age and senior groups show higher response rates than the youngest group.</a:t>
            </a:r>
          </a:p>
        </p:txBody>
      </p:sp>
      <p:sp>
        <p:nvSpPr>
          <p:cNvPr id="17" name="TextBox 16"/>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6DFD-948D-EB9D-129A-050DD4EAE167}"/>
              </a:ext>
            </a:extLst>
          </p:cNvPr>
          <p:cNvSpPr>
            <a:spLocks noGrp="1"/>
          </p:cNvSpPr>
          <p:nvPr>
            <p:ph type="title"/>
          </p:nvPr>
        </p:nvSpPr>
        <p:spPr>
          <a:xfrm>
            <a:off x="678881" y="603666"/>
            <a:ext cx="10834233" cy="612775"/>
          </a:xfrm>
        </p:spPr>
        <p:txBody>
          <a:bodyPr>
            <a:normAutofit/>
          </a:bodyPr>
          <a:lstStyle/>
          <a:p>
            <a:r>
              <a:rPr lang="en-IN" sz="2800" dirty="0">
                <a:solidFill>
                  <a:srgbClr val="002060"/>
                </a:solidFill>
                <a:latin typeface="Aptos" panose="020B0004020202020204" pitchFamily="34" charset="0"/>
              </a:rPr>
              <a:t>EDA Visualization</a:t>
            </a:r>
          </a:p>
        </p:txBody>
      </p:sp>
      <p:pic>
        <p:nvPicPr>
          <p:cNvPr id="6" name="Content Placeholder 5">
            <a:extLst>
              <a:ext uri="{FF2B5EF4-FFF2-40B4-BE49-F238E27FC236}">
                <a16:creationId xmlns:a16="http://schemas.microsoft.com/office/drawing/2014/main" id="{1A8777BE-CB86-E805-67BC-538CB8DCF3A9}"/>
              </a:ext>
            </a:extLst>
          </p:cNvPr>
          <p:cNvPicPr>
            <a:picLocks noGrp="1" noChangeAspect="1"/>
          </p:cNvPicPr>
          <p:nvPr>
            <p:ph sz="half" idx="1"/>
          </p:nvPr>
        </p:nvPicPr>
        <p:blipFill>
          <a:blip r:embed="rId2"/>
          <a:stretch>
            <a:fillRect/>
          </a:stretch>
        </p:blipFill>
        <p:spPr>
          <a:xfrm>
            <a:off x="144028" y="1659835"/>
            <a:ext cx="6028171" cy="4399441"/>
          </a:xfrm>
          <a:prstGeom prst="rect">
            <a:avLst/>
          </a:prstGeom>
        </p:spPr>
      </p:pic>
      <p:pic>
        <p:nvPicPr>
          <p:cNvPr id="8" name="Content Placeholder 7">
            <a:extLst>
              <a:ext uri="{FF2B5EF4-FFF2-40B4-BE49-F238E27FC236}">
                <a16:creationId xmlns:a16="http://schemas.microsoft.com/office/drawing/2014/main" id="{F927CCE0-55D7-712B-E315-85A5B5A34E15}"/>
              </a:ext>
            </a:extLst>
          </p:cNvPr>
          <p:cNvPicPr>
            <a:picLocks noGrp="1" noChangeAspect="1"/>
          </p:cNvPicPr>
          <p:nvPr>
            <p:ph sz="half" idx="2"/>
          </p:nvPr>
        </p:nvPicPr>
        <p:blipFill>
          <a:blip r:embed="rId3"/>
          <a:stretch>
            <a:fillRect/>
          </a:stretch>
        </p:blipFill>
        <p:spPr>
          <a:xfrm>
            <a:off x="6172200" y="1771650"/>
            <a:ext cx="5875772" cy="4287626"/>
          </a:xfrm>
          <a:prstGeom prst="rect">
            <a:avLst/>
          </a:prstGeom>
        </p:spPr>
      </p:pic>
    </p:spTree>
    <p:extLst>
      <p:ext uri="{BB962C8B-B14F-4D97-AF65-F5344CB8AC3E}">
        <p14:creationId xmlns:p14="http://schemas.microsoft.com/office/powerpoint/2010/main" val="3533455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E76C4-8AE5-11AE-97A7-14F024DFBDC8}"/>
              </a:ext>
            </a:extLst>
          </p:cNvPr>
          <p:cNvSpPr>
            <a:spLocks noGrp="1"/>
          </p:cNvSpPr>
          <p:nvPr>
            <p:ph type="title"/>
          </p:nvPr>
        </p:nvSpPr>
        <p:spPr/>
        <p:txBody>
          <a:bodyPr>
            <a:normAutofit/>
          </a:bodyPr>
          <a:lstStyle/>
          <a:p>
            <a:r>
              <a:rPr lang="en-IN" sz="2800" dirty="0">
                <a:latin typeface="Aptos" panose="020B0004020202020204" pitchFamily="34" charset="0"/>
              </a:rPr>
              <a:t>EDA Visualization</a:t>
            </a:r>
          </a:p>
        </p:txBody>
      </p:sp>
      <p:sp>
        <p:nvSpPr>
          <p:cNvPr id="3" name="Text Placeholder 2">
            <a:extLst>
              <a:ext uri="{FF2B5EF4-FFF2-40B4-BE49-F238E27FC236}">
                <a16:creationId xmlns:a16="http://schemas.microsoft.com/office/drawing/2014/main" id="{FED91108-7903-763D-F372-5F5F4A2FC9FC}"/>
              </a:ext>
            </a:extLst>
          </p:cNvPr>
          <p:cNvSpPr>
            <a:spLocks noGrp="1"/>
          </p:cNvSpPr>
          <p:nvPr>
            <p:ph type="body" idx="1"/>
          </p:nvPr>
        </p:nvSpPr>
        <p:spPr/>
        <p:txBody>
          <a:bodyPr/>
          <a:lstStyle/>
          <a:p>
            <a:endParaRPr lang="en-IN"/>
          </a:p>
        </p:txBody>
      </p:sp>
      <p:pic>
        <p:nvPicPr>
          <p:cNvPr id="8" name="Content Placeholder 7">
            <a:extLst>
              <a:ext uri="{FF2B5EF4-FFF2-40B4-BE49-F238E27FC236}">
                <a16:creationId xmlns:a16="http://schemas.microsoft.com/office/drawing/2014/main" id="{CBFCC1B0-7A26-FF7F-17F4-2159469C2FFB}"/>
              </a:ext>
            </a:extLst>
          </p:cNvPr>
          <p:cNvPicPr>
            <a:picLocks noGrp="1" noChangeAspect="1"/>
          </p:cNvPicPr>
          <p:nvPr>
            <p:ph sz="half" idx="2"/>
          </p:nvPr>
        </p:nvPicPr>
        <p:blipFill>
          <a:blip r:embed="rId2"/>
          <a:stretch>
            <a:fillRect/>
          </a:stretch>
        </p:blipFill>
        <p:spPr>
          <a:xfrm>
            <a:off x="0" y="1543051"/>
            <a:ext cx="6019799" cy="4514850"/>
          </a:xfrm>
          <a:prstGeom prst="rect">
            <a:avLst/>
          </a:prstGeom>
        </p:spPr>
      </p:pic>
      <p:sp>
        <p:nvSpPr>
          <p:cNvPr id="5" name="Text Placeholder 4">
            <a:extLst>
              <a:ext uri="{FF2B5EF4-FFF2-40B4-BE49-F238E27FC236}">
                <a16:creationId xmlns:a16="http://schemas.microsoft.com/office/drawing/2014/main" id="{70DAB3CF-59CA-226D-1699-919DF775EA07}"/>
              </a:ext>
            </a:extLst>
          </p:cNvPr>
          <p:cNvSpPr>
            <a:spLocks noGrp="1"/>
          </p:cNvSpPr>
          <p:nvPr>
            <p:ph type="body" sz="quarter" idx="3"/>
          </p:nvPr>
        </p:nvSpPr>
        <p:spPr/>
        <p:txBody>
          <a:bodyPr/>
          <a:lstStyle/>
          <a:p>
            <a:endParaRPr lang="en-IN"/>
          </a:p>
        </p:txBody>
      </p:sp>
      <p:pic>
        <p:nvPicPr>
          <p:cNvPr id="10" name="Content Placeholder 9">
            <a:extLst>
              <a:ext uri="{FF2B5EF4-FFF2-40B4-BE49-F238E27FC236}">
                <a16:creationId xmlns:a16="http://schemas.microsoft.com/office/drawing/2014/main" id="{96E3A812-88FD-67B3-74CA-916496D88AA6}"/>
              </a:ext>
            </a:extLst>
          </p:cNvPr>
          <p:cNvPicPr>
            <a:picLocks noGrp="1" noChangeAspect="1"/>
          </p:cNvPicPr>
          <p:nvPr>
            <p:ph sz="quarter" idx="4"/>
          </p:nvPr>
        </p:nvPicPr>
        <p:blipFill>
          <a:blip r:embed="rId3"/>
          <a:stretch>
            <a:fillRect/>
          </a:stretch>
        </p:blipFill>
        <p:spPr>
          <a:xfrm>
            <a:off x="6096000" y="1504841"/>
            <a:ext cx="5791200" cy="4514850"/>
          </a:xfrm>
          <a:prstGeom prst="rect">
            <a:avLst/>
          </a:prstGeom>
        </p:spPr>
      </p:pic>
    </p:spTree>
    <p:extLst>
      <p:ext uri="{BB962C8B-B14F-4D97-AF65-F5344CB8AC3E}">
        <p14:creationId xmlns:p14="http://schemas.microsoft.com/office/powerpoint/2010/main" val="3540191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F62B3-9115-B960-5D55-1B1C4675D3BA}"/>
              </a:ext>
            </a:extLst>
          </p:cNvPr>
          <p:cNvSpPr>
            <a:spLocks noGrp="1"/>
          </p:cNvSpPr>
          <p:nvPr>
            <p:ph type="title"/>
          </p:nvPr>
        </p:nvSpPr>
        <p:spPr/>
        <p:txBody>
          <a:bodyPr>
            <a:noAutofit/>
          </a:bodyPr>
          <a:lstStyle/>
          <a:p>
            <a:r>
              <a:rPr lang="en-IN" sz="2800" dirty="0">
                <a:latin typeface="Aptos" panose="020B0004020202020204" pitchFamily="34" charset="0"/>
              </a:rPr>
              <a:t>EDA Visualization</a:t>
            </a:r>
            <a:br>
              <a:rPr lang="en-IN" sz="2800" dirty="0">
                <a:latin typeface="Aptos" panose="020B0004020202020204" pitchFamily="34" charset="0"/>
              </a:rPr>
            </a:br>
            <a:endParaRPr lang="en-IN" sz="2800" dirty="0">
              <a:latin typeface="Aptos" panose="020B0004020202020204" pitchFamily="34" charset="0"/>
            </a:endParaRPr>
          </a:p>
        </p:txBody>
      </p:sp>
      <p:pic>
        <p:nvPicPr>
          <p:cNvPr id="6" name="Content Placeholder 5">
            <a:extLst>
              <a:ext uri="{FF2B5EF4-FFF2-40B4-BE49-F238E27FC236}">
                <a16:creationId xmlns:a16="http://schemas.microsoft.com/office/drawing/2014/main" id="{3EC81780-CB6D-3B92-2CE2-D59287793C7E}"/>
              </a:ext>
            </a:extLst>
          </p:cNvPr>
          <p:cNvPicPr>
            <a:picLocks noGrp="1" noChangeAspect="1"/>
          </p:cNvPicPr>
          <p:nvPr>
            <p:ph sz="half" idx="1"/>
          </p:nvPr>
        </p:nvPicPr>
        <p:blipFill>
          <a:blip r:embed="rId2"/>
          <a:stretch>
            <a:fillRect/>
          </a:stretch>
        </p:blipFill>
        <p:spPr>
          <a:xfrm>
            <a:off x="228600" y="1414463"/>
            <a:ext cx="5791200" cy="4644814"/>
          </a:xfrm>
          <a:prstGeom prst="rect">
            <a:avLst/>
          </a:prstGeom>
        </p:spPr>
      </p:pic>
      <p:sp>
        <p:nvSpPr>
          <p:cNvPr id="4" name="Content Placeholder 3">
            <a:extLst>
              <a:ext uri="{FF2B5EF4-FFF2-40B4-BE49-F238E27FC236}">
                <a16:creationId xmlns:a16="http://schemas.microsoft.com/office/drawing/2014/main" id="{B691739C-D49C-6F53-ADAD-1A6414CAF848}"/>
              </a:ext>
            </a:extLst>
          </p:cNvPr>
          <p:cNvSpPr>
            <a:spLocks noGrp="1"/>
          </p:cNvSpPr>
          <p:nvPr>
            <p:ph sz="half" idx="2"/>
          </p:nvPr>
        </p:nvSpPr>
        <p:spPr/>
        <p:txBody>
          <a:bodyPr>
            <a:normAutofit/>
          </a:bodyPr>
          <a:lstStyle/>
          <a:p>
            <a:pPr marL="0" indent="0">
              <a:buNone/>
            </a:pPr>
            <a:r>
              <a:rPr lang="en-US" sz="2000" b="1" dirty="0"/>
              <a:t>This box plot compares annual premium between customers who responded and those who did not. The median premium is slightly higher for responding customers, but the distributions overlap significantly. We can also see many high-premium outliers, indicating that the annual premium distribution is highly right-skewed. Therefore, annual premium alone is not sufficient to distinguish customer response, but it can still contribute to the machine-learning model along with other features.</a:t>
            </a:r>
            <a:endParaRPr lang="en-IN" sz="2000" b="1" dirty="0"/>
          </a:p>
        </p:txBody>
      </p:sp>
    </p:spTree>
    <p:extLst>
      <p:ext uri="{BB962C8B-B14F-4D97-AF65-F5344CB8AC3E}">
        <p14:creationId xmlns:p14="http://schemas.microsoft.com/office/powerpoint/2010/main" val="1374601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BC1F2-2F21-9D3E-7405-CA5FD87E5703}"/>
              </a:ext>
            </a:extLst>
          </p:cNvPr>
          <p:cNvSpPr>
            <a:spLocks noGrp="1"/>
          </p:cNvSpPr>
          <p:nvPr>
            <p:ph type="title"/>
          </p:nvPr>
        </p:nvSpPr>
        <p:spPr/>
        <p:txBody>
          <a:bodyPr/>
          <a:lstStyle/>
          <a:p>
            <a:r>
              <a:rPr lang="en-IN" dirty="0"/>
              <a:t>EDA Visualization</a:t>
            </a:r>
          </a:p>
        </p:txBody>
      </p:sp>
      <p:pic>
        <p:nvPicPr>
          <p:cNvPr id="4" name="Picture 3">
            <a:extLst>
              <a:ext uri="{FF2B5EF4-FFF2-40B4-BE49-F238E27FC236}">
                <a16:creationId xmlns:a16="http://schemas.microsoft.com/office/drawing/2014/main" id="{01E91E0B-90FB-CBDE-810C-2FE4F0D7EC0A}"/>
              </a:ext>
            </a:extLst>
          </p:cNvPr>
          <p:cNvPicPr>
            <a:picLocks noChangeAspect="1"/>
          </p:cNvPicPr>
          <p:nvPr/>
        </p:nvPicPr>
        <p:blipFill>
          <a:blip r:embed="rId2"/>
          <a:stretch>
            <a:fillRect/>
          </a:stretch>
        </p:blipFill>
        <p:spPr>
          <a:xfrm>
            <a:off x="2000249" y="1319212"/>
            <a:ext cx="6134100" cy="4476750"/>
          </a:xfrm>
          <a:prstGeom prst="rect">
            <a:avLst/>
          </a:prstGeom>
        </p:spPr>
      </p:pic>
    </p:spTree>
    <p:extLst>
      <p:ext uri="{BB962C8B-B14F-4D97-AF65-F5344CB8AC3E}">
        <p14:creationId xmlns:p14="http://schemas.microsoft.com/office/powerpoint/2010/main" val="2789606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32A5-20BB-76C8-5504-6ACAFF380420}"/>
              </a:ext>
            </a:extLst>
          </p:cNvPr>
          <p:cNvSpPr>
            <a:spLocks noGrp="1"/>
          </p:cNvSpPr>
          <p:nvPr>
            <p:ph type="title"/>
          </p:nvPr>
        </p:nvSpPr>
        <p:spPr/>
        <p:txBody>
          <a:bodyPr/>
          <a:lstStyle/>
          <a:p>
            <a:r>
              <a:rPr lang="en-IN" dirty="0"/>
              <a:t>Correlation Matrix Heatmap</a:t>
            </a:r>
          </a:p>
        </p:txBody>
      </p:sp>
      <p:pic>
        <p:nvPicPr>
          <p:cNvPr id="4" name="Picture 3">
            <a:extLst>
              <a:ext uri="{FF2B5EF4-FFF2-40B4-BE49-F238E27FC236}">
                <a16:creationId xmlns:a16="http://schemas.microsoft.com/office/drawing/2014/main" id="{B567D50C-9576-F34C-D987-251F98339810}"/>
              </a:ext>
            </a:extLst>
          </p:cNvPr>
          <p:cNvPicPr>
            <a:picLocks noChangeAspect="1"/>
          </p:cNvPicPr>
          <p:nvPr/>
        </p:nvPicPr>
        <p:blipFill>
          <a:blip r:embed="rId2"/>
          <a:stretch>
            <a:fillRect/>
          </a:stretch>
        </p:blipFill>
        <p:spPr>
          <a:xfrm>
            <a:off x="871537" y="1216441"/>
            <a:ext cx="8486775" cy="5037893"/>
          </a:xfrm>
          <a:prstGeom prst="rect">
            <a:avLst/>
          </a:prstGeom>
        </p:spPr>
      </p:pic>
    </p:spTree>
    <p:extLst>
      <p:ext uri="{BB962C8B-B14F-4D97-AF65-F5344CB8AC3E}">
        <p14:creationId xmlns:p14="http://schemas.microsoft.com/office/powerpoint/2010/main" val="4173691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A22DC-62E6-BC24-56C2-C665B7FACBEF}"/>
              </a:ext>
            </a:extLst>
          </p:cNvPr>
          <p:cNvSpPr>
            <a:spLocks noGrp="1"/>
          </p:cNvSpPr>
          <p:nvPr>
            <p:ph type="title"/>
          </p:nvPr>
        </p:nvSpPr>
        <p:spPr/>
        <p:txBody>
          <a:bodyPr/>
          <a:lstStyle/>
          <a:p>
            <a:r>
              <a:rPr lang="en-IN" dirty="0"/>
              <a:t>Random Forest feature-importance analysis</a:t>
            </a:r>
          </a:p>
        </p:txBody>
      </p:sp>
      <p:graphicFrame>
        <p:nvGraphicFramePr>
          <p:cNvPr id="3" name="Table 2">
            <a:extLst>
              <a:ext uri="{FF2B5EF4-FFF2-40B4-BE49-F238E27FC236}">
                <a16:creationId xmlns:a16="http://schemas.microsoft.com/office/drawing/2014/main" id="{D5422BEC-F08E-5F5D-2356-488B17CD5A0D}"/>
              </a:ext>
            </a:extLst>
          </p:cNvPr>
          <p:cNvGraphicFramePr>
            <a:graphicFrameLocks noGrp="1"/>
          </p:cNvGraphicFramePr>
          <p:nvPr>
            <p:extLst>
              <p:ext uri="{D42A27DB-BD31-4B8C-83A1-F6EECF244321}">
                <p14:modId xmlns:p14="http://schemas.microsoft.com/office/powerpoint/2010/main" val="1803743788"/>
              </p:ext>
            </p:extLst>
          </p:nvPr>
        </p:nvGraphicFramePr>
        <p:xfrm>
          <a:off x="85711" y="1536060"/>
          <a:ext cx="8312148" cy="4389120"/>
        </p:xfrm>
        <a:graphic>
          <a:graphicData uri="http://schemas.openxmlformats.org/drawingml/2006/table">
            <a:tbl>
              <a:tblPr/>
              <a:tblGrid>
                <a:gridCol w="2770716">
                  <a:extLst>
                    <a:ext uri="{9D8B030D-6E8A-4147-A177-3AD203B41FA5}">
                      <a16:colId xmlns:a16="http://schemas.microsoft.com/office/drawing/2014/main" val="3198809346"/>
                    </a:ext>
                  </a:extLst>
                </a:gridCol>
                <a:gridCol w="2770716">
                  <a:extLst>
                    <a:ext uri="{9D8B030D-6E8A-4147-A177-3AD203B41FA5}">
                      <a16:colId xmlns:a16="http://schemas.microsoft.com/office/drawing/2014/main" val="2882361629"/>
                    </a:ext>
                  </a:extLst>
                </a:gridCol>
                <a:gridCol w="2770716">
                  <a:extLst>
                    <a:ext uri="{9D8B030D-6E8A-4147-A177-3AD203B41FA5}">
                      <a16:colId xmlns:a16="http://schemas.microsoft.com/office/drawing/2014/main" val="3428943103"/>
                    </a:ext>
                  </a:extLst>
                </a:gridCol>
              </a:tblGrid>
              <a:tr h="365178">
                <a:tc>
                  <a:txBody>
                    <a:bodyPr/>
                    <a:lstStyle/>
                    <a:p>
                      <a:pPr algn="r">
                        <a:buNone/>
                      </a:pPr>
                      <a:r>
                        <a:rPr lang="en-IN" b="1">
                          <a:solidFill>
                            <a:srgbClr val="FF0000"/>
                          </a:solidFill>
                        </a:rPr>
                        <a:t>Rank</a:t>
                      </a:r>
                    </a:p>
                  </a:txBody>
                  <a:tcPr anchor="ctr">
                    <a:lnL>
                      <a:noFill/>
                    </a:lnL>
                    <a:lnR>
                      <a:noFill/>
                    </a:lnR>
                    <a:lnT>
                      <a:noFill/>
                    </a:lnT>
                    <a:lnB>
                      <a:noFill/>
                    </a:lnB>
                    <a:noFill/>
                  </a:tcPr>
                </a:tc>
                <a:tc>
                  <a:txBody>
                    <a:bodyPr/>
                    <a:lstStyle/>
                    <a:p>
                      <a:pPr>
                        <a:buNone/>
                      </a:pPr>
                      <a:r>
                        <a:rPr lang="en-IN" b="1" dirty="0">
                          <a:solidFill>
                            <a:srgbClr val="FF0000"/>
                          </a:solidFill>
                        </a:rPr>
                        <a:t>Feature</a:t>
                      </a:r>
                    </a:p>
                  </a:txBody>
                  <a:tcPr anchor="ctr">
                    <a:lnL>
                      <a:noFill/>
                    </a:lnL>
                    <a:lnR>
                      <a:noFill/>
                    </a:lnR>
                    <a:lnT>
                      <a:noFill/>
                    </a:lnT>
                    <a:lnB>
                      <a:noFill/>
                    </a:lnB>
                    <a:noFill/>
                  </a:tcPr>
                </a:tc>
                <a:tc>
                  <a:txBody>
                    <a:bodyPr/>
                    <a:lstStyle/>
                    <a:p>
                      <a:pPr algn="r">
                        <a:buNone/>
                      </a:pPr>
                      <a:r>
                        <a:rPr lang="en-IN" b="1" dirty="0">
                          <a:solidFill>
                            <a:srgbClr val="FF0000"/>
                          </a:solidFill>
                        </a:rPr>
                        <a:t>Importance</a:t>
                      </a:r>
                    </a:p>
                  </a:txBody>
                  <a:tcPr anchor="ctr">
                    <a:lnL>
                      <a:noFill/>
                    </a:lnL>
                    <a:lnR>
                      <a:noFill/>
                    </a:lnR>
                    <a:lnT>
                      <a:noFill/>
                    </a:lnT>
                    <a:lnB>
                      <a:noFill/>
                    </a:lnB>
                    <a:noFill/>
                  </a:tcPr>
                </a:tc>
                <a:extLst>
                  <a:ext uri="{0D108BD9-81ED-4DB2-BD59-A6C34878D82A}">
                    <a16:rowId xmlns:a16="http://schemas.microsoft.com/office/drawing/2014/main" val="3142226819"/>
                  </a:ext>
                </a:extLst>
              </a:tr>
              <a:tr h="365178">
                <a:tc>
                  <a:txBody>
                    <a:bodyPr/>
                    <a:lstStyle/>
                    <a:p>
                      <a:pPr algn="r">
                        <a:buNone/>
                      </a:pPr>
                      <a:r>
                        <a:rPr lang="en-IN"/>
                        <a:t>1</a:t>
                      </a:r>
                    </a:p>
                  </a:txBody>
                  <a:tcPr anchor="ctr">
                    <a:lnL>
                      <a:noFill/>
                    </a:lnL>
                    <a:lnR>
                      <a:noFill/>
                    </a:lnR>
                    <a:lnT>
                      <a:noFill/>
                    </a:lnT>
                    <a:lnB>
                      <a:noFill/>
                    </a:lnB>
                    <a:noFill/>
                  </a:tcPr>
                </a:tc>
                <a:tc>
                  <a:txBody>
                    <a:bodyPr/>
                    <a:lstStyle/>
                    <a:p>
                      <a:pPr>
                        <a:buNone/>
                      </a:pPr>
                      <a:r>
                        <a:rPr lang="en-IN" b="1"/>
                        <a:t>Vehicle_Damage_Yes</a:t>
                      </a:r>
                      <a:endParaRPr lang="en-IN"/>
                    </a:p>
                  </a:txBody>
                  <a:tcPr anchor="ctr">
                    <a:lnL>
                      <a:noFill/>
                    </a:lnL>
                    <a:lnR>
                      <a:noFill/>
                    </a:lnR>
                    <a:lnT>
                      <a:noFill/>
                    </a:lnT>
                    <a:lnB>
                      <a:noFill/>
                    </a:lnB>
                    <a:noFill/>
                  </a:tcPr>
                </a:tc>
                <a:tc>
                  <a:txBody>
                    <a:bodyPr/>
                    <a:lstStyle/>
                    <a:p>
                      <a:pPr algn="r">
                        <a:buNone/>
                      </a:pPr>
                      <a:r>
                        <a:rPr lang="en-IN" b="1"/>
                        <a:t>0.1540</a:t>
                      </a:r>
                      <a:endParaRPr lang="en-IN"/>
                    </a:p>
                  </a:txBody>
                  <a:tcPr anchor="ctr">
                    <a:lnL>
                      <a:noFill/>
                    </a:lnL>
                    <a:lnR>
                      <a:noFill/>
                    </a:lnR>
                    <a:lnT>
                      <a:noFill/>
                    </a:lnT>
                    <a:lnB>
                      <a:noFill/>
                    </a:lnB>
                    <a:noFill/>
                  </a:tcPr>
                </a:tc>
                <a:extLst>
                  <a:ext uri="{0D108BD9-81ED-4DB2-BD59-A6C34878D82A}">
                    <a16:rowId xmlns:a16="http://schemas.microsoft.com/office/drawing/2014/main" val="3207352728"/>
                  </a:ext>
                </a:extLst>
              </a:tr>
              <a:tr h="365178">
                <a:tc>
                  <a:txBody>
                    <a:bodyPr/>
                    <a:lstStyle/>
                    <a:p>
                      <a:pPr algn="r">
                        <a:buNone/>
                      </a:pPr>
                      <a:r>
                        <a:rPr lang="en-IN"/>
                        <a:t>2</a:t>
                      </a:r>
                    </a:p>
                  </a:txBody>
                  <a:tcPr anchor="ctr">
                    <a:lnL>
                      <a:noFill/>
                    </a:lnL>
                    <a:lnR>
                      <a:noFill/>
                    </a:lnR>
                    <a:lnT>
                      <a:noFill/>
                    </a:lnT>
                    <a:lnB>
                      <a:noFill/>
                    </a:lnB>
                    <a:noFill/>
                  </a:tcPr>
                </a:tc>
                <a:tc>
                  <a:txBody>
                    <a:bodyPr/>
                    <a:lstStyle/>
                    <a:p>
                      <a:pPr>
                        <a:buNone/>
                      </a:pPr>
                      <a:r>
                        <a:rPr lang="en-IN" b="1"/>
                        <a:t>Vehicle_Damage_No</a:t>
                      </a:r>
                      <a:endParaRPr lang="en-IN"/>
                    </a:p>
                  </a:txBody>
                  <a:tcPr anchor="ctr">
                    <a:lnL>
                      <a:noFill/>
                    </a:lnL>
                    <a:lnR>
                      <a:noFill/>
                    </a:lnR>
                    <a:lnT>
                      <a:noFill/>
                    </a:lnT>
                    <a:lnB>
                      <a:noFill/>
                    </a:lnB>
                    <a:noFill/>
                  </a:tcPr>
                </a:tc>
                <a:tc>
                  <a:txBody>
                    <a:bodyPr/>
                    <a:lstStyle/>
                    <a:p>
                      <a:pPr algn="r">
                        <a:buNone/>
                      </a:pPr>
                      <a:r>
                        <a:rPr lang="en-IN" b="1"/>
                        <a:t>0.1440</a:t>
                      </a:r>
                      <a:endParaRPr lang="en-IN"/>
                    </a:p>
                  </a:txBody>
                  <a:tcPr anchor="ctr">
                    <a:lnL>
                      <a:noFill/>
                    </a:lnL>
                    <a:lnR>
                      <a:noFill/>
                    </a:lnR>
                    <a:lnT>
                      <a:noFill/>
                    </a:lnT>
                    <a:lnB>
                      <a:noFill/>
                    </a:lnB>
                    <a:noFill/>
                  </a:tcPr>
                </a:tc>
                <a:extLst>
                  <a:ext uri="{0D108BD9-81ED-4DB2-BD59-A6C34878D82A}">
                    <a16:rowId xmlns:a16="http://schemas.microsoft.com/office/drawing/2014/main" val="3714475166"/>
                  </a:ext>
                </a:extLst>
              </a:tr>
              <a:tr h="365178">
                <a:tc>
                  <a:txBody>
                    <a:bodyPr/>
                    <a:lstStyle/>
                    <a:p>
                      <a:pPr algn="r">
                        <a:buNone/>
                      </a:pPr>
                      <a:r>
                        <a:rPr lang="en-IN"/>
                        <a:t>3</a:t>
                      </a:r>
                    </a:p>
                  </a:txBody>
                  <a:tcPr anchor="ctr">
                    <a:lnL>
                      <a:noFill/>
                    </a:lnL>
                    <a:lnR>
                      <a:noFill/>
                    </a:lnR>
                    <a:lnT>
                      <a:noFill/>
                    </a:lnT>
                    <a:lnB>
                      <a:noFill/>
                    </a:lnB>
                    <a:noFill/>
                  </a:tcPr>
                </a:tc>
                <a:tc>
                  <a:txBody>
                    <a:bodyPr/>
                    <a:lstStyle/>
                    <a:p>
                      <a:pPr>
                        <a:buNone/>
                      </a:pPr>
                      <a:r>
                        <a:rPr lang="en-IN" b="1" dirty="0" err="1"/>
                        <a:t>Previously_Insured</a:t>
                      </a:r>
                      <a:endParaRPr lang="en-IN" dirty="0"/>
                    </a:p>
                  </a:txBody>
                  <a:tcPr anchor="ctr">
                    <a:lnL>
                      <a:noFill/>
                    </a:lnL>
                    <a:lnR>
                      <a:noFill/>
                    </a:lnR>
                    <a:lnT>
                      <a:noFill/>
                    </a:lnT>
                    <a:lnB>
                      <a:noFill/>
                    </a:lnB>
                    <a:noFill/>
                  </a:tcPr>
                </a:tc>
                <a:tc>
                  <a:txBody>
                    <a:bodyPr/>
                    <a:lstStyle/>
                    <a:p>
                      <a:pPr algn="r">
                        <a:buNone/>
                      </a:pPr>
                      <a:r>
                        <a:rPr lang="en-IN" b="1"/>
                        <a:t>0.1423</a:t>
                      </a:r>
                      <a:endParaRPr lang="en-IN"/>
                    </a:p>
                  </a:txBody>
                  <a:tcPr anchor="ctr">
                    <a:lnL>
                      <a:noFill/>
                    </a:lnL>
                    <a:lnR>
                      <a:noFill/>
                    </a:lnR>
                    <a:lnT>
                      <a:noFill/>
                    </a:lnT>
                    <a:lnB>
                      <a:noFill/>
                    </a:lnB>
                    <a:noFill/>
                  </a:tcPr>
                </a:tc>
                <a:extLst>
                  <a:ext uri="{0D108BD9-81ED-4DB2-BD59-A6C34878D82A}">
                    <a16:rowId xmlns:a16="http://schemas.microsoft.com/office/drawing/2014/main" val="3280824873"/>
                  </a:ext>
                </a:extLst>
              </a:tr>
              <a:tr h="365178">
                <a:tc>
                  <a:txBody>
                    <a:bodyPr/>
                    <a:lstStyle/>
                    <a:p>
                      <a:pPr algn="r">
                        <a:buNone/>
                      </a:pPr>
                      <a:r>
                        <a:rPr lang="en-IN"/>
                        <a:t>4</a:t>
                      </a:r>
                    </a:p>
                  </a:txBody>
                  <a:tcPr anchor="ctr">
                    <a:lnL>
                      <a:noFill/>
                    </a:lnL>
                    <a:lnR>
                      <a:noFill/>
                    </a:lnR>
                    <a:lnT>
                      <a:noFill/>
                    </a:lnT>
                    <a:lnB>
                      <a:noFill/>
                    </a:lnB>
                    <a:noFill/>
                  </a:tcPr>
                </a:tc>
                <a:tc>
                  <a:txBody>
                    <a:bodyPr/>
                    <a:lstStyle/>
                    <a:p>
                      <a:pPr>
                        <a:buNone/>
                      </a:pPr>
                      <a:r>
                        <a:rPr lang="en-IN" b="1"/>
                        <a:t>Vintage</a:t>
                      </a:r>
                      <a:endParaRPr lang="en-IN"/>
                    </a:p>
                  </a:txBody>
                  <a:tcPr anchor="ctr">
                    <a:lnL>
                      <a:noFill/>
                    </a:lnL>
                    <a:lnR>
                      <a:noFill/>
                    </a:lnR>
                    <a:lnT>
                      <a:noFill/>
                    </a:lnT>
                    <a:lnB>
                      <a:noFill/>
                    </a:lnB>
                    <a:noFill/>
                  </a:tcPr>
                </a:tc>
                <a:tc>
                  <a:txBody>
                    <a:bodyPr/>
                    <a:lstStyle/>
                    <a:p>
                      <a:pPr algn="r">
                        <a:buNone/>
                      </a:pPr>
                      <a:r>
                        <a:rPr lang="en-IN" b="1"/>
                        <a:t>0.1360</a:t>
                      </a:r>
                      <a:endParaRPr lang="en-IN"/>
                    </a:p>
                  </a:txBody>
                  <a:tcPr anchor="ctr">
                    <a:lnL>
                      <a:noFill/>
                    </a:lnL>
                    <a:lnR>
                      <a:noFill/>
                    </a:lnR>
                    <a:lnT>
                      <a:noFill/>
                    </a:lnT>
                    <a:lnB>
                      <a:noFill/>
                    </a:lnB>
                    <a:noFill/>
                  </a:tcPr>
                </a:tc>
                <a:extLst>
                  <a:ext uri="{0D108BD9-81ED-4DB2-BD59-A6C34878D82A}">
                    <a16:rowId xmlns:a16="http://schemas.microsoft.com/office/drawing/2014/main" val="1018702623"/>
                  </a:ext>
                </a:extLst>
              </a:tr>
              <a:tr h="365178">
                <a:tc>
                  <a:txBody>
                    <a:bodyPr/>
                    <a:lstStyle/>
                    <a:p>
                      <a:pPr algn="r">
                        <a:buNone/>
                      </a:pPr>
                      <a:r>
                        <a:rPr lang="en-IN"/>
                        <a:t>5</a:t>
                      </a:r>
                    </a:p>
                  </a:txBody>
                  <a:tcPr anchor="ctr">
                    <a:lnL>
                      <a:noFill/>
                    </a:lnL>
                    <a:lnR>
                      <a:noFill/>
                    </a:lnR>
                    <a:lnT>
                      <a:noFill/>
                    </a:lnT>
                    <a:lnB>
                      <a:noFill/>
                    </a:lnB>
                    <a:noFill/>
                  </a:tcPr>
                </a:tc>
                <a:tc>
                  <a:txBody>
                    <a:bodyPr/>
                    <a:lstStyle/>
                    <a:p>
                      <a:pPr>
                        <a:buNone/>
                      </a:pPr>
                      <a:r>
                        <a:rPr lang="en-IN" b="1"/>
                        <a:t>Annual_Premium</a:t>
                      </a:r>
                      <a:endParaRPr lang="en-IN"/>
                    </a:p>
                  </a:txBody>
                  <a:tcPr anchor="ctr">
                    <a:lnL>
                      <a:noFill/>
                    </a:lnL>
                    <a:lnR>
                      <a:noFill/>
                    </a:lnR>
                    <a:lnT>
                      <a:noFill/>
                    </a:lnT>
                    <a:lnB>
                      <a:noFill/>
                    </a:lnB>
                    <a:noFill/>
                  </a:tcPr>
                </a:tc>
                <a:tc>
                  <a:txBody>
                    <a:bodyPr/>
                    <a:lstStyle/>
                    <a:p>
                      <a:pPr algn="r">
                        <a:buNone/>
                      </a:pPr>
                      <a:r>
                        <a:rPr lang="en-IN" b="1"/>
                        <a:t>0.1153</a:t>
                      </a:r>
                      <a:endParaRPr lang="en-IN"/>
                    </a:p>
                  </a:txBody>
                  <a:tcPr anchor="ctr">
                    <a:lnL>
                      <a:noFill/>
                    </a:lnL>
                    <a:lnR>
                      <a:noFill/>
                    </a:lnR>
                    <a:lnT>
                      <a:noFill/>
                    </a:lnT>
                    <a:lnB>
                      <a:noFill/>
                    </a:lnB>
                    <a:noFill/>
                  </a:tcPr>
                </a:tc>
                <a:extLst>
                  <a:ext uri="{0D108BD9-81ED-4DB2-BD59-A6C34878D82A}">
                    <a16:rowId xmlns:a16="http://schemas.microsoft.com/office/drawing/2014/main" val="2113448864"/>
                  </a:ext>
                </a:extLst>
              </a:tr>
              <a:tr h="365178">
                <a:tc>
                  <a:txBody>
                    <a:bodyPr/>
                    <a:lstStyle/>
                    <a:p>
                      <a:pPr algn="r">
                        <a:buNone/>
                      </a:pPr>
                      <a:r>
                        <a:rPr lang="en-IN"/>
                        <a:t>6</a:t>
                      </a:r>
                    </a:p>
                  </a:txBody>
                  <a:tcPr anchor="ctr">
                    <a:lnL>
                      <a:noFill/>
                    </a:lnL>
                    <a:lnR>
                      <a:noFill/>
                    </a:lnR>
                    <a:lnT>
                      <a:noFill/>
                    </a:lnT>
                    <a:lnB>
                      <a:noFill/>
                    </a:lnB>
                    <a:noFill/>
                  </a:tcPr>
                </a:tc>
                <a:tc>
                  <a:txBody>
                    <a:bodyPr/>
                    <a:lstStyle/>
                    <a:p>
                      <a:pPr>
                        <a:buNone/>
                      </a:pPr>
                      <a:r>
                        <a:rPr lang="en-IN" b="1"/>
                        <a:t>Age</a:t>
                      </a:r>
                      <a:endParaRPr lang="en-IN"/>
                    </a:p>
                  </a:txBody>
                  <a:tcPr anchor="ctr">
                    <a:lnL>
                      <a:noFill/>
                    </a:lnL>
                    <a:lnR>
                      <a:noFill/>
                    </a:lnR>
                    <a:lnT>
                      <a:noFill/>
                    </a:lnT>
                    <a:lnB>
                      <a:noFill/>
                    </a:lnB>
                    <a:noFill/>
                  </a:tcPr>
                </a:tc>
                <a:tc>
                  <a:txBody>
                    <a:bodyPr/>
                    <a:lstStyle/>
                    <a:p>
                      <a:pPr algn="r">
                        <a:buNone/>
                      </a:pPr>
                      <a:r>
                        <a:rPr lang="en-IN" b="1"/>
                        <a:t>0.0812</a:t>
                      </a:r>
                      <a:endParaRPr lang="en-IN"/>
                    </a:p>
                  </a:txBody>
                  <a:tcPr anchor="ctr">
                    <a:lnL>
                      <a:noFill/>
                    </a:lnL>
                    <a:lnR>
                      <a:noFill/>
                    </a:lnR>
                    <a:lnT>
                      <a:noFill/>
                    </a:lnT>
                    <a:lnB>
                      <a:noFill/>
                    </a:lnB>
                    <a:noFill/>
                  </a:tcPr>
                </a:tc>
                <a:extLst>
                  <a:ext uri="{0D108BD9-81ED-4DB2-BD59-A6C34878D82A}">
                    <a16:rowId xmlns:a16="http://schemas.microsoft.com/office/drawing/2014/main" val="3552105938"/>
                  </a:ext>
                </a:extLst>
              </a:tr>
              <a:tr h="365178">
                <a:tc>
                  <a:txBody>
                    <a:bodyPr/>
                    <a:lstStyle/>
                    <a:p>
                      <a:pPr algn="r">
                        <a:buNone/>
                      </a:pPr>
                      <a:r>
                        <a:rPr lang="en-IN"/>
                        <a:t>7</a:t>
                      </a:r>
                    </a:p>
                  </a:txBody>
                  <a:tcPr anchor="ctr">
                    <a:lnL>
                      <a:noFill/>
                    </a:lnL>
                    <a:lnR>
                      <a:noFill/>
                    </a:lnR>
                    <a:lnT>
                      <a:noFill/>
                    </a:lnT>
                    <a:lnB>
                      <a:noFill/>
                    </a:lnB>
                    <a:noFill/>
                  </a:tcPr>
                </a:tc>
                <a:tc>
                  <a:txBody>
                    <a:bodyPr/>
                    <a:lstStyle/>
                    <a:p>
                      <a:pPr>
                        <a:buNone/>
                      </a:pPr>
                      <a:r>
                        <a:rPr lang="en-IN" b="1"/>
                        <a:t>Region_Code</a:t>
                      </a:r>
                      <a:endParaRPr lang="en-IN"/>
                    </a:p>
                  </a:txBody>
                  <a:tcPr anchor="ctr">
                    <a:lnL>
                      <a:noFill/>
                    </a:lnL>
                    <a:lnR>
                      <a:noFill/>
                    </a:lnR>
                    <a:lnT>
                      <a:noFill/>
                    </a:lnT>
                    <a:lnB>
                      <a:noFill/>
                    </a:lnB>
                    <a:noFill/>
                  </a:tcPr>
                </a:tc>
                <a:tc>
                  <a:txBody>
                    <a:bodyPr/>
                    <a:lstStyle/>
                    <a:p>
                      <a:pPr algn="r">
                        <a:buNone/>
                      </a:pPr>
                      <a:r>
                        <a:rPr lang="en-IN" b="1"/>
                        <a:t>0.0809</a:t>
                      </a:r>
                      <a:endParaRPr lang="en-IN"/>
                    </a:p>
                  </a:txBody>
                  <a:tcPr anchor="ctr">
                    <a:lnL>
                      <a:noFill/>
                    </a:lnL>
                    <a:lnR>
                      <a:noFill/>
                    </a:lnR>
                    <a:lnT>
                      <a:noFill/>
                    </a:lnT>
                    <a:lnB>
                      <a:noFill/>
                    </a:lnB>
                    <a:noFill/>
                  </a:tcPr>
                </a:tc>
                <a:extLst>
                  <a:ext uri="{0D108BD9-81ED-4DB2-BD59-A6C34878D82A}">
                    <a16:rowId xmlns:a16="http://schemas.microsoft.com/office/drawing/2014/main" val="392190684"/>
                  </a:ext>
                </a:extLst>
              </a:tr>
              <a:tr h="365178">
                <a:tc>
                  <a:txBody>
                    <a:bodyPr/>
                    <a:lstStyle/>
                    <a:p>
                      <a:pPr algn="r">
                        <a:buNone/>
                      </a:pPr>
                      <a:r>
                        <a:rPr lang="en-IN"/>
                        <a:t>8</a:t>
                      </a:r>
                    </a:p>
                  </a:txBody>
                  <a:tcPr anchor="ctr">
                    <a:lnL>
                      <a:noFill/>
                    </a:lnL>
                    <a:lnR>
                      <a:noFill/>
                    </a:lnR>
                    <a:lnT>
                      <a:noFill/>
                    </a:lnT>
                    <a:lnB>
                      <a:noFill/>
                    </a:lnB>
                    <a:noFill/>
                  </a:tcPr>
                </a:tc>
                <a:tc>
                  <a:txBody>
                    <a:bodyPr/>
                    <a:lstStyle/>
                    <a:p>
                      <a:pPr>
                        <a:buNone/>
                      </a:pPr>
                      <a:r>
                        <a:rPr lang="en-IN" b="1"/>
                        <a:t>Policy_Sales_Channel</a:t>
                      </a:r>
                      <a:endParaRPr lang="en-IN"/>
                    </a:p>
                  </a:txBody>
                  <a:tcPr anchor="ctr">
                    <a:lnL>
                      <a:noFill/>
                    </a:lnL>
                    <a:lnR>
                      <a:noFill/>
                    </a:lnR>
                    <a:lnT>
                      <a:noFill/>
                    </a:lnT>
                    <a:lnB>
                      <a:noFill/>
                    </a:lnB>
                    <a:noFill/>
                  </a:tcPr>
                </a:tc>
                <a:tc>
                  <a:txBody>
                    <a:bodyPr/>
                    <a:lstStyle/>
                    <a:p>
                      <a:pPr algn="r">
                        <a:buNone/>
                      </a:pPr>
                      <a:r>
                        <a:rPr lang="en-IN" b="1"/>
                        <a:t>0.0639</a:t>
                      </a:r>
                      <a:endParaRPr lang="en-IN"/>
                    </a:p>
                  </a:txBody>
                  <a:tcPr anchor="ctr">
                    <a:lnL>
                      <a:noFill/>
                    </a:lnL>
                    <a:lnR>
                      <a:noFill/>
                    </a:lnR>
                    <a:lnT>
                      <a:noFill/>
                    </a:lnT>
                    <a:lnB>
                      <a:noFill/>
                    </a:lnB>
                    <a:noFill/>
                  </a:tcPr>
                </a:tc>
                <a:extLst>
                  <a:ext uri="{0D108BD9-81ED-4DB2-BD59-A6C34878D82A}">
                    <a16:rowId xmlns:a16="http://schemas.microsoft.com/office/drawing/2014/main" val="2016174478"/>
                  </a:ext>
                </a:extLst>
              </a:tr>
              <a:tr h="365178">
                <a:tc>
                  <a:txBody>
                    <a:bodyPr/>
                    <a:lstStyle/>
                    <a:p>
                      <a:pPr algn="r">
                        <a:buNone/>
                      </a:pPr>
                      <a:r>
                        <a:rPr lang="en-IN"/>
                        <a:t>9</a:t>
                      </a:r>
                    </a:p>
                  </a:txBody>
                  <a:tcPr anchor="ctr">
                    <a:lnL>
                      <a:noFill/>
                    </a:lnL>
                    <a:lnR>
                      <a:noFill/>
                    </a:lnR>
                    <a:lnT>
                      <a:noFill/>
                    </a:lnT>
                    <a:lnB>
                      <a:noFill/>
                    </a:lnB>
                    <a:noFill/>
                  </a:tcPr>
                </a:tc>
                <a:tc>
                  <a:txBody>
                    <a:bodyPr/>
                    <a:lstStyle/>
                    <a:p>
                      <a:pPr>
                        <a:buNone/>
                      </a:pPr>
                      <a:r>
                        <a:rPr lang="en-IN" b="1"/>
                        <a:t>Vehicle_Age_&lt; 1 Year</a:t>
                      </a:r>
                      <a:endParaRPr lang="en-IN"/>
                    </a:p>
                  </a:txBody>
                  <a:tcPr anchor="ctr">
                    <a:lnL>
                      <a:noFill/>
                    </a:lnL>
                    <a:lnR>
                      <a:noFill/>
                    </a:lnR>
                    <a:lnT>
                      <a:noFill/>
                    </a:lnT>
                    <a:lnB>
                      <a:noFill/>
                    </a:lnB>
                    <a:noFill/>
                  </a:tcPr>
                </a:tc>
                <a:tc>
                  <a:txBody>
                    <a:bodyPr/>
                    <a:lstStyle/>
                    <a:p>
                      <a:pPr algn="r">
                        <a:buNone/>
                      </a:pPr>
                      <a:r>
                        <a:rPr lang="en-IN" b="1"/>
                        <a:t>0.0214</a:t>
                      </a:r>
                      <a:endParaRPr lang="en-IN"/>
                    </a:p>
                  </a:txBody>
                  <a:tcPr anchor="ctr">
                    <a:lnL>
                      <a:noFill/>
                    </a:lnL>
                    <a:lnR>
                      <a:noFill/>
                    </a:lnR>
                    <a:lnT>
                      <a:noFill/>
                    </a:lnT>
                    <a:lnB>
                      <a:noFill/>
                    </a:lnB>
                    <a:noFill/>
                  </a:tcPr>
                </a:tc>
                <a:extLst>
                  <a:ext uri="{0D108BD9-81ED-4DB2-BD59-A6C34878D82A}">
                    <a16:rowId xmlns:a16="http://schemas.microsoft.com/office/drawing/2014/main" val="1745053590"/>
                  </a:ext>
                </a:extLst>
              </a:tr>
              <a:tr h="365178">
                <a:tc>
                  <a:txBody>
                    <a:bodyPr/>
                    <a:lstStyle/>
                    <a:p>
                      <a:pPr algn="r">
                        <a:buNone/>
                      </a:pPr>
                      <a:r>
                        <a:rPr lang="en-IN"/>
                        <a:t>10</a:t>
                      </a:r>
                    </a:p>
                  </a:txBody>
                  <a:tcPr anchor="ctr">
                    <a:lnL>
                      <a:noFill/>
                    </a:lnL>
                    <a:lnR>
                      <a:noFill/>
                    </a:lnR>
                    <a:lnT>
                      <a:noFill/>
                    </a:lnT>
                    <a:lnB>
                      <a:noFill/>
                    </a:lnB>
                    <a:noFill/>
                  </a:tcPr>
                </a:tc>
                <a:tc>
                  <a:txBody>
                    <a:bodyPr/>
                    <a:lstStyle/>
                    <a:p>
                      <a:pPr>
                        <a:buNone/>
                      </a:pPr>
                      <a:r>
                        <a:rPr lang="en-IN" b="1"/>
                        <a:t>Vehicle_Age_Years</a:t>
                      </a:r>
                      <a:endParaRPr lang="en-IN"/>
                    </a:p>
                  </a:txBody>
                  <a:tcPr anchor="ctr">
                    <a:lnL>
                      <a:noFill/>
                    </a:lnL>
                    <a:lnR>
                      <a:noFill/>
                    </a:lnR>
                    <a:lnT>
                      <a:noFill/>
                    </a:lnT>
                    <a:lnB>
                      <a:noFill/>
                    </a:lnB>
                    <a:noFill/>
                  </a:tcPr>
                </a:tc>
                <a:tc>
                  <a:txBody>
                    <a:bodyPr/>
                    <a:lstStyle/>
                    <a:p>
                      <a:pPr algn="r">
                        <a:buNone/>
                      </a:pPr>
                      <a:r>
                        <a:rPr lang="en-IN" b="1"/>
                        <a:t>0.0202</a:t>
                      </a:r>
                      <a:endParaRPr lang="en-IN"/>
                    </a:p>
                  </a:txBody>
                  <a:tcPr anchor="ctr">
                    <a:lnL>
                      <a:noFill/>
                    </a:lnL>
                    <a:lnR>
                      <a:noFill/>
                    </a:lnR>
                    <a:lnT>
                      <a:noFill/>
                    </a:lnT>
                    <a:lnB>
                      <a:noFill/>
                    </a:lnB>
                    <a:noFill/>
                  </a:tcPr>
                </a:tc>
                <a:extLst>
                  <a:ext uri="{0D108BD9-81ED-4DB2-BD59-A6C34878D82A}">
                    <a16:rowId xmlns:a16="http://schemas.microsoft.com/office/drawing/2014/main" val="2511155554"/>
                  </a:ext>
                </a:extLst>
              </a:tr>
              <a:tr h="365178">
                <a:tc>
                  <a:txBody>
                    <a:bodyPr/>
                    <a:lstStyle/>
                    <a:p>
                      <a:pPr algn="r">
                        <a:buNone/>
                      </a:pPr>
                      <a:r>
                        <a:rPr lang="en-IN"/>
                        <a:t>11</a:t>
                      </a:r>
                    </a:p>
                  </a:txBody>
                  <a:tcPr anchor="ctr">
                    <a:lnL>
                      <a:noFill/>
                    </a:lnL>
                    <a:lnR>
                      <a:noFill/>
                    </a:lnR>
                    <a:lnT>
                      <a:noFill/>
                    </a:lnT>
                    <a:lnB>
                      <a:noFill/>
                    </a:lnB>
                    <a:noFill/>
                  </a:tcPr>
                </a:tc>
                <a:tc>
                  <a:txBody>
                    <a:bodyPr/>
                    <a:lstStyle/>
                    <a:p>
                      <a:pPr>
                        <a:buNone/>
                      </a:pPr>
                      <a:r>
                        <a:rPr lang="en-IN" b="1"/>
                        <a:t>Age_Group_Young</a:t>
                      </a:r>
                      <a:endParaRPr lang="en-IN"/>
                    </a:p>
                  </a:txBody>
                  <a:tcPr anchor="ctr">
                    <a:lnL>
                      <a:noFill/>
                    </a:lnL>
                    <a:lnR>
                      <a:noFill/>
                    </a:lnR>
                    <a:lnT>
                      <a:noFill/>
                    </a:lnT>
                    <a:lnB>
                      <a:noFill/>
                    </a:lnB>
                    <a:noFill/>
                  </a:tcPr>
                </a:tc>
                <a:tc>
                  <a:txBody>
                    <a:bodyPr/>
                    <a:lstStyle/>
                    <a:p>
                      <a:pPr algn="r">
                        <a:buNone/>
                      </a:pPr>
                      <a:r>
                        <a:rPr lang="en-IN" b="1" dirty="0"/>
                        <a:t>0.0146</a:t>
                      </a:r>
                      <a:endParaRPr lang="en-IN" dirty="0"/>
                    </a:p>
                  </a:txBody>
                  <a:tcPr anchor="ctr">
                    <a:lnL>
                      <a:noFill/>
                    </a:lnL>
                    <a:lnR>
                      <a:noFill/>
                    </a:lnR>
                    <a:lnT>
                      <a:noFill/>
                    </a:lnT>
                    <a:lnB>
                      <a:noFill/>
                    </a:lnB>
                    <a:noFill/>
                  </a:tcPr>
                </a:tc>
                <a:extLst>
                  <a:ext uri="{0D108BD9-81ED-4DB2-BD59-A6C34878D82A}">
                    <a16:rowId xmlns:a16="http://schemas.microsoft.com/office/drawing/2014/main" val="3258953963"/>
                  </a:ext>
                </a:extLst>
              </a:tr>
            </a:tbl>
          </a:graphicData>
        </a:graphic>
      </p:graphicFrame>
    </p:spTree>
    <p:extLst>
      <p:ext uri="{BB962C8B-B14F-4D97-AF65-F5344CB8AC3E}">
        <p14:creationId xmlns:p14="http://schemas.microsoft.com/office/powerpoint/2010/main" val="3967925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5. Data Preprocessing</a:t>
            </a:r>
          </a:p>
        </p:txBody>
      </p:sp>
      <p:sp>
        <p:nvSpPr>
          <p:cNvPr id="3" name="Content Placeholder 2"/>
          <p:cNvSpPr>
            <a:spLocks noGrp="1"/>
          </p:cNvSpPr>
          <p:nvPr>
            <p:ph idx="1"/>
          </p:nvPr>
        </p:nvSpPr>
        <p:spPr/>
        <p:txBody>
          <a:bodyPr wrap="square"/>
          <a:lstStyle/>
          <a:p>
            <a:pPr>
              <a:spcAft>
                <a:spcPts val="700"/>
              </a:spcAft>
            </a:pPr>
            <a:r>
              <a:rPr sz="1600">
                <a:solidFill>
                  <a:srgbClr val="20242D"/>
                </a:solidFill>
                <a:latin typeface="Aptos"/>
              </a:rPr>
              <a:t>Removed the identifier column (id) because it is not a meaningful predictive feature.</a:t>
            </a:r>
          </a:p>
          <a:p>
            <a:pPr>
              <a:spcAft>
                <a:spcPts val="700"/>
              </a:spcAft>
            </a:pPr>
            <a:r>
              <a:rPr sz="1600">
                <a:solidFill>
                  <a:srgbClr val="20242D"/>
                </a:solidFill>
                <a:latin typeface="Aptos"/>
              </a:rPr>
              <a:t>Split the data into 80% training and 20% testing sets using random_state=42 and stratify=y.</a:t>
            </a:r>
          </a:p>
          <a:p>
            <a:pPr>
              <a:spcAft>
                <a:spcPts val="700"/>
              </a:spcAft>
            </a:pPr>
            <a:r>
              <a:rPr sz="1600">
                <a:solidFill>
                  <a:srgbClr val="20242D"/>
                </a:solidFill>
                <a:latin typeface="Aptos"/>
              </a:rPr>
              <a:t>Numerical features were standardized using StandardScaler.</a:t>
            </a:r>
          </a:p>
          <a:p>
            <a:pPr>
              <a:spcAft>
                <a:spcPts val="700"/>
              </a:spcAft>
            </a:pPr>
            <a:r>
              <a:rPr sz="1600">
                <a:solidFill>
                  <a:srgbClr val="20242D"/>
                </a:solidFill>
                <a:latin typeface="Aptos"/>
              </a:rPr>
              <a:t>Categorical features were one-hot encoded using OneHotEncoder(handle_unknown="ignore").</a:t>
            </a:r>
          </a:p>
          <a:p>
            <a:pPr>
              <a:spcAft>
                <a:spcPts val="700"/>
              </a:spcAft>
            </a:pPr>
            <a:r>
              <a:rPr sz="1600">
                <a:solidFill>
                  <a:srgbClr val="20242D"/>
                </a:solidFill>
                <a:latin typeface="Aptos"/>
              </a:rPr>
              <a:t>All preprocessing steps were placed inside a scikit-learn ColumnTransformer and Pipeline to keep training and prediction consistent.</a:t>
            </a:r>
          </a:p>
        </p:txBody>
      </p:sp>
      <p:sp>
        <p:nvSpPr>
          <p:cNvPr id="4" name="Rounded Rectangle 3"/>
          <p:cNvSpPr/>
          <p:nvPr/>
        </p:nvSpPr>
        <p:spPr>
          <a:xfrm>
            <a:off x="6812280" y="4343400"/>
            <a:ext cx="3886200" cy="132588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12280" y="4343400"/>
            <a:ext cx="73152" cy="1325880"/>
          </a:xfrm>
          <a:prstGeom prst="rect">
            <a:avLst/>
          </a:prstGeom>
          <a:solidFill>
            <a:srgbClr val="106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76872" y="4471416"/>
            <a:ext cx="3611880" cy="365760"/>
          </a:xfrm>
          <a:prstGeom prst="rect">
            <a:avLst/>
          </a:prstGeom>
          <a:noFill/>
        </p:spPr>
        <p:txBody>
          <a:bodyPr wrap="square" lIns="54864" tIns="54864" rIns="54864" bIns="54864">
            <a:spAutoFit/>
          </a:bodyPr>
          <a:lstStyle/>
          <a:p>
            <a:pPr algn="l"/>
            <a:r>
              <a:rPr sz="1700" b="1">
                <a:solidFill>
                  <a:srgbClr val="1F1F5B"/>
                </a:solidFill>
                <a:latin typeface="Aptos"/>
              </a:rPr>
              <a:t>Preprocessing pipeline</a:t>
            </a:r>
          </a:p>
        </p:txBody>
      </p:sp>
      <p:sp>
        <p:nvSpPr>
          <p:cNvPr id="7" name="TextBox 6"/>
          <p:cNvSpPr txBox="1"/>
          <p:nvPr/>
        </p:nvSpPr>
        <p:spPr>
          <a:xfrm>
            <a:off x="6976872" y="4873752"/>
            <a:ext cx="3611880" cy="704087"/>
          </a:xfrm>
          <a:prstGeom prst="rect">
            <a:avLst/>
          </a:prstGeom>
          <a:noFill/>
        </p:spPr>
        <p:txBody>
          <a:bodyPr wrap="square" lIns="54864" tIns="54864" rIns="54864" bIns="54864">
            <a:spAutoFit/>
          </a:bodyPr>
          <a:lstStyle/>
          <a:p>
            <a:pPr algn="l"/>
            <a:r>
              <a:rPr sz="1400" b="0">
                <a:solidFill>
                  <a:srgbClr val="20242D"/>
                </a:solidFill>
                <a:latin typeface="Aptos"/>
              </a:rPr>
              <a:t>Numeric → StandardScaler</a:t>
            </a:r>
            <a:br/>
            <a:r>
              <a:rPr sz="1400" b="0">
                <a:solidFill>
                  <a:srgbClr val="20242D"/>
                </a:solidFill>
                <a:latin typeface="Aptos"/>
              </a:rPr>
              <a:t>Categorical → OneHotEncoder</a:t>
            </a:r>
          </a:p>
        </p:txBody>
      </p:sp>
      <p:sp>
        <p:nvSpPr>
          <p:cNvPr id="8" name="TextBox 7"/>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6. Feature Engineering</a:t>
            </a:r>
          </a:p>
        </p:txBody>
      </p:sp>
      <p:sp>
        <p:nvSpPr>
          <p:cNvPr id="3" name="Content Placeholder 2"/>
          <p:cNvSpPr>
            <a:spLocks noGrp="1"/>
          </p:cNvSpPr>
          <p:nvPr>
            <p:ph idx="1"/>
          </p:nvPr>
        </p:nvSpPr>
        <p:spPr/>
        <p:txBody>
          <a:bodyPr wrap="square"/>
          <a:lstStyle/>
          <a:p>
            <a:pPr>
              <a:spcAft>
                <a:spcPts val="700"/>
              </a:spcAft>
            </a:pPr>
            <a:r>
              <a:rPr sz="1700" dirty="0">
                <a:solidFill>
                  <a:srgbClr val="20242D"/>
                </a:solidFill>
                <a:latin typeface="Aptos"/>
              </a:rPr>
              <a:t>Created </a:t>
            </a:r>
            <a:r>
              <a:rPr sz="1700" dirty="0" err="1">
                <a:solidFill>
                  <a:srgbClr val="20242D"/>
                </a:solidFill>
                <a:latin typeface="Aptos"/>
              </a:rPr>
              <a:t>Vehicle_Age_Years</a:t>
            </a:r>
            <a:r>
              <a:rPr sz="1700" dirty="0">
                <a:solidFill>
                  <a:srgbClr val="20242D"/>
                </a:solidFill>
                <a:latin typeface="Aptos"/>
              </a:rPr>
              <a:t> by mapping vehicle-age categories to approximate numeric values: &lt;1 Year → 0.5, 1–2 Year → 1.5, &gt;2 Years → 3.</a:t>
            </a:r>
          </a:p>
          <a:p>
            <a:pPr>
              <a:spcAft>
                <a:spcPts val="700"/>
              </a:spcAft>
            </a:pPr>
            <a:r>
              <a:rPr sz="1700" dirty="0">
                <a:solidFill>
                  <a:srgbClr val="20242D"/>
                </a:solidFill>
                <a:latin typeface="Aptos"/>
              </a:rPr>
              <a:t>Created </a:t>
            </a:r>
            <a:r>
              <a:rPr sz="1700" dirty="0" err="1">
                <a:solidFill>
                  <a:srgbClr val="20242D"/>
                </a:solidFill>
                <a:latin typeface="Aptos"/>
              </a:rPr>
              <a:t>Age_Group</a:t>
            </a:r>
            <a:r>
              <a:rPr sz="1700" dirty="0">
                <a:solidFill>
                  <a:srgbClr val="20242D"/>
                </a:solidFill>
                <a:latin typeface="Aptos"/>
              </a:rPr>
              <a:t> using bins: Young, Adult, </a:t>
            </a:r>
            <a:r>
              <a:rPr sz="1700" dirty="0" err="1">
                <a:solidFill>
                  <a:srgbClr val="20242D"/>
                </a:solidFill>
                <a:latin typeface="Aptos"/>
              </a:rPr>
              <a:t>Middle_Age</a:t>
            </a:r>
            <a:r>
              <a:rPr sz="1700" dirty="0">
                <a:solidFill>
                  <a:srgbClr val="20242D"/>
                </a:solidFill>
                <a:latin typeface="Aptos"/>
              </a:rPr>
              <a:t>, Senior and Older.</a:t>
            </a:r>
          </a:p>
          <a:p>
            <a:pPr>
              <a:spcAft>
                <a:spcPts val="700"/>
              </a:spcAft>
            </a:pPr>
            <a:r>
              <a:rPr sz="1700" dirty="0">
                <a:solidFill>
                  <a:srgbClr val="20242D"/>
                </a:solidFill>
                <a:latin typeface="Aptos"/>
              </a:rPr>
              <a:t>These engineered features provide additional numerical and grouped representations of customer characteristics.</a:t>
            </a:r>
          </a:p>
          <a:p>
            <a:pPr>
              <a:spcAft>
                <a:spcPts val="700"/>
              </a:spcAft>
            </a:pPr>
            <a:r>
              <a:rPr sz="1700" dirty="0">
                <a:solidFill>
                  <a:srgbClr val="20242D"/>
                </a:solidFill>
                <a:latin typeface="Aptos"/>
              </a:rPr>
              <a:t>The engineered features were included in the same preprocessing/model pipeline.</a:t>
            </a:r>
          </a:p>
        </p:txBody>
      </p:sp>
      <p:sp>
        <p:nvSpPr>
          <p:cNvPr id="4" name="Rounded Rectangle 3"/>
          <p:cNvSpPr/>
          <p:nvPr/>
        </p:nvSpPr>
        <p:spPr>
          <a:xfrm>
            <a:off x="1020118" y="3934793"/>
            <a:ext cx="3931920" cy="12344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4403" y="3959352"/>
            <a:ext cx="73152" cy="123444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65839" y="4103372"/>
            <a:ext cx="3657600" cy="365760"/>
          </a:xfrm>
          <a:prstGeom prst="rect">
            <a:avLst/>
          </a:prstGeom>
          <a:noFill/>
        </p:spPr>
        <p:txBody>
          <a:bodyPr wrap="square" lIns="54864" tIns="54864" rIns="54864" bIns="54864">
            <a:spAutoFit/>
          </a:bodyPr>
          <a:lstStyle/>
          <a:p>
            <a:pPr algn="l"/>
            <a:r>
              <a:rPr sz="1700" b="1" dirty="0" err="1">
                <a:solidFill>
                  <a:srgbClr val="1F1F5B"/>
                </a:solidFill>
                <a:latin typeface="Aptos"/>
              </a:rPr>
              <a:t>Vehicle_Age_Years</a:t>
            </a:r>
            <a:endParaRPr sz="1700" b="1" dirty="0">
              <a:solidFill>
                <a:srgbClr val="1F1F5B"/>
              </a:solidFill>
              <a:latin typeface="Aptos"/>
            </a:endParaRPr>
          </a:p>
        </p:txBody>
      </p:sp>
      <p:sp>
        <p:nvSpPr>
          <p:cNvPr id="7" name="TextBox 6"/>
          <p:cNvSpPr txBox="1"/>
          <p:nvPr/>
        </p:nvSpPr>
        <p:spPr>
          <a:xfrm>
            <a:off x="1113263" y="4536575"/>
            <a:ext cx="3657600" cy="326243"/>
          </a:xfrm>
          <a:prstGeom prst="rect">
            <a:avLst/>
          </a:prstGeom>
          <a:noFill/>
        </p:spPr>
        <p:txBody>
          <a:bodyPr wrap="square" lIns="54864" tIns="54864" rIns="54864" bIns="54864">
            <a:spAutoFit/>
          </a:bodyPr>
          <a:lstStyle/>
          <a:p>
            <a:pPr algn="l"/>
            <a:r>
              <a:rPr sz="1400" b="1" dirty="0">
                <a:solidFill>
                  <a:srgbClr val="20242D"/>
                </a:solidFill>
                <a:latin typeface="Aptos"/>
              </a:rPr>
              <a:t>&lt;1 → 0.5 | 1–2 → 1.5 | &gt;2 → 3</a:t>
            </a:r>
          </a:p>
        </p:txBody>
      </p:sp>
      <p:sp>
        <p:nvSpPr>
          <p:cNvPr id="8" name="Rounded Rectangle 7"/>
          <p:cNvSpPr/>
          <p:nvPr/>
        </p:nvSpPr>
        <p:spPr>
          <a:xfrm>
            <a:off x="6020759" y="3886201"/>
            <a:ext cx="3931920" cy="1319684"/>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71412" y="3874108"/>
            <a:ext cx="124587" cy="1319684"/>
          </a:xfrm>
          <a:prstGeom prst="rect">
            <a:avLst/>
          </a:prstGeom>
          <a:solidFill>
            <a:srgbClr val="23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28195" y="4014214"/>
            <a:ext cx="3657600" cy="365760"/>
          </a:xfrm>
          <a:prstGeom prst="rect">
            <a:avLst/>
          </a:prstGeom>
          <a:noFill/>
        </p:spPr>
        <p:txBody>
          <a:bodyPr wrap="square" lIns="54864" tIns="54864" rIns="54864" bIns="54864">
            <a:spAutoFit/>
          </a:bodyPr>
          <a:lstStyle/>
          <a:p>
            <a:pPr algn="l"/>
            <a:r>
              <a:rPr sz="1700" b="1" dirty="0" err="1">
                <a:solidFill>
                  <a:srgbClr val="1F1F5B"/>
                </a:solidFill>
                <a:latin typeface="Aptos"/>
              </a:rPr>
              <a:t>Age_Group</a:t>
            </a:r>
            <a:endParaRPr sz="1700" b="1" dirty="0">
              <a:solidFill>
                <a:srgbClr val="1F1F5B"/>
              </a:solidFill>
              <a:latin typeface="Aptos"/>
            </a:endParaRPr>
          </a:p>
        </p:txBody>
      </p:sp>
      <p:sp>
        <p:nvSpPr>
          <p:cNvPr id="11" name="TextBox 10"/>
          <p:cNvSpPr txBox="1"/>
          <p:nvPr/>
        </p:nvSpPr>
        <p:spPr>
          <a:xfrm>
            <a:off x="6228195" y="4516565"/>
            <a:ext cx="3835196" cy="326243"/>
          </a:xfrm>
          <a:prstGeom prst="rect">
            <a:avLst/>
          </a:prstGeom>
          <a:noFill/>
        </p:spPr>
        <p:txBody>
          <a:bodyPr wrap="square" lIns="54864" tIns="54864" rIns="54864" bIns="54864">
            <a:spAutoFit/>
          </a:bodyPr>
          <a:lstStyle/>
          <a:p>
            <a:pPr algn="l"/>
            <a:r>
              <a:rPr sz="1400" b="1" dirty="0">
                <a:solidFill>
                  <a:srgbClr val="20242D"/>
                </a:solidFill>
                <a:latin typeface="Aptos"/>
              </a:rPr>
              <a:t>Young → Adult → </a:t>
            </a:r>
            <a:r>
              <a:rPr sz="1400" b="1" dirty="0" err="1">
                <a:solidFill>
                  <a:srgbClr val="20242D"/>
                </a:solidFill>
                <a:latin typeface="Aptos"/>
              </a:rPr>
              <a:t>Middle_Age</a:t>
            </a:r>
            <a:r>
              <a:rPr sz="1400" b="1" dirty="0">
                <a:solidFill>
                  <a:srgbClr val="20242D"/>
                </a:solidFill>
                <a:latin typeface="Aptos"/>
              </a:rPr>
              <a:t> → Senior → Older</a:t>
            </a:r>
          </a:p>
        </p:txBody>
      </p:sp>
      <p:sp>
        <p:nvSpPr>
          <p:cNvPr id="12" name="TextBox 11"/>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7. End-to-End Machine Learning Workflow</a:t>
            </a:r>
          </a:p>
        </p:txBody>
      </p:sp>
      <p:sp>
        <p:nvSpPr>
          <p:cNvPr id="3" name="Rounded Rectangle 2"/>
          <p:cNvSpPr/>
          <p:nvPr/>
        </p:nvSpPr>
        <p:spPr>
          <a:xfrm>
            <a:off x="411480" y="2331720"/>
            <a:ext cx="1234440" cy="9601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66344" y="2441448"/>
            <a:ext cx="1124712" cy="320040"/>
          </a:xfrm>
          <a:prstGeom prst="rect">
            <a:avLst/>
          </a:prstGeom>
          <a:noFill/>
        </p:spPr>
        <p:txBody>
          <a:bodyPr wrap="square" lIns="54864" tIns="54864" rIns="54864" bIns="54864">
            <a:spAutoFit/>
          </a:bodyPr>
          <a:lstStyle/>
          <a:p>
            <a:pPr algn="ctr"/>
            <a:r>
              <a:rPr sz="1200" b="1">
                <a:solidFill>
                  <a:srgbClr val="1F1F5B"/>
                </a:solidFill>
                <a:latin typeface="Aptos"/>
              </a:rPr>
              <a:t>Raw Data</a:t>
            </a:r>
          </a:p>
        </p:txBody>
      </p:sp>
      <p:sp>
        <p:nvSpPr>
          <p:cNvPr id="5" name="TextBox 4"/>
          <p:cNvSpPr txBox="1"/>
          <p:nvPr/>
        </p:nvSpPr>
        <p:spPr>
          <a:xfrm>
            <a:off x="466344" y="2807208"/>
            <a:ext cx="1124712" cy="384048"/>
          </a:xfrm>
          <a:prstGeom prst="rect">
            <a:avLst/>
          </a:prstGeom>
          <a:noFill/>
        </p:spPr>
        <p:txBody>
          <a:bodyPr wrap="square" lIns="54864" tIns="54864" rIns="54864" bIns="54864">
            <a:spAutoFit/>
          </a:bodyPr>
          <a:lstStyle/>
          <a:p>
            <a:pPr algn="ctr"/>
            <a:r>
              <a:rPr sz="900" b="0">
                <a:solidFill>
                  <a:srgbClr val="20242D"/>
                </a:solidFill>
                <a:latin typeface="Aptos"/>
              </a:rPr>
              <a:t>381,109 records</a:t>
            </a:r>
          </a:p>
        </p:txBody>
      </p:sp>
      <p:cxnSp>
        <p:nvCxnSpPr>
          <p:cNvPr id="6" name="Connector 5"/>
          <p:cNvCxnSpPr/>
          <p:nvPr/>
        </p:nvCxnSpPr>
        <p:spPr>
          <a:xfrm>
            <a:off x="1645920" y="2807208"/>
            <a:ext cx="182880" cy="1645919"/>
          </a:xfrm>
          <a:prstGeom prst="line">
            <a:avLst/>
          </a:prstGeom>
          <a:ln w="19050">
            <a:solidFill>
              <a:srgbClr val="1068A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28800" y="3977639"/>
            <a:ext cx="1234440" cy="9601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83664" y="4087368"/>
            <a:ext cx="1124712" cy="320040"/>
          </a:xfrm>
          <a:prstGeom prst="rect">
            <a:avLst/>
          </a:prstGeom>
          <a:noFill/>
        </p:spPr>
        <p:txBody>
          <a:bodyPr wrap="square" lIns="54864" tIns="54864" rIns="54864" bIns="54864">
            <a:spAutoFit/>
          </a:bodyPr>
          <a:lstStyle/>
          <a:p>
            <a:pPr algn="ctr"/>
            <a:r>
              <a:rPr sz="1200" b="1">
                <a:solidFill>
                  <a:srgbClr val="1F1F5B"/>
                </a:solidFill>
                <a:latin typeface="Aptos"/>
              </a:rPr>
              <a:t>EDA</a:t>
            </a:r>
          </a:p>
        </p:txBody>
      </p:sp>
      <p:sp>
        <p:nvSpPr>
          <p:cNvPr id="9" name="TextBox 8"/>
          <p:cNvSpPr txBox="1"/>
          <p:nvPr/>
        </p:nvSpPr>
        <p:spPr>
          <a:xfrm>
            <a:off x="1883664" y="4453127"/>
            <a:ext cx="1124712" cy="384048"/>
          </a:xfrm>
          <a:prstGeom prst="rect">
            <a:avLst/>
          </a:prstGeom>
          <a:noFill/>
        </p:spPr>
        <p:txBody>
          <a:bodyPr wrap="square" lIns="54864" tIns="54864" rIns="54864" bIns="54864">
            <a:spAutoFit/>
          </a:bodyPr>
          <a:lstStyle/>
          <a:p>
            <a:pPr algn="ctr"/>
            <a:r>
              <a:rPr sz="900" b="0">
                <a:solidFill>
                  <a:srgbClr val="20242D"/>
                </a:solidFill>
                <a:latin typeface="Aptos"/>
              </a:rPr>
              <a:t>Quality + patterns</a:t>
            </a:r>
          </a:p>
        </p:txBody>
      </p:sp>
      <p:cxnSp>
        <p:nvCxnSpPr>
          <p:cNvPr id="10" name="Connector 9"/>
          <p:cNvCxnSpPr/>
          <p:nvPr/>
        </p:nvCxnSpPr>
        <p:spPr>
          <a:xfrm flipV="1">
            <a:off x="3063240" y="2807208"/>
            <a:ext cx="182880" cy="1645919"/>
          </a:xfrm>
          <a:prstGeom prst="line">
            <a:avLst/>
          </a:prstGeom>
          <a:ln w="19050">
            <a:solidFill>
              <a:srgbClr val="1068A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46120" y="2331720"/>
            <a:ext cx="1234440" cy="9601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00984" y="2441448"/>
            <a:ext cx="1124712" cy="320040"/>
          </a:xfrm>
          <a:prstGeom prst="rect">
            <a:avLst/>
          </a:prstGeom>
          <a:noFill/>
        </p:spPr>
        <p:txBody>
          <a:bodyPr wrap="square" lIns="54864" tIns="54864" rIns="54864" bIns="54864">
            <a:spAutoFit/>
          </a:bodyPr>
          <a:lstStyle/>
          <a:p>
            <a:pPr algn="ctr"/>
            <a:r>
              <a:rPr sz="1200" b="1">
                <a:solidFill>
                  <a:srgbClr val="1F1F5B"/>
                </a:solidFill>
                <a:latin typeface="Aptos"/>
              </a:rPr>
              <a:t>Preprocess</a:t>
            </a:r>
          </a:p>
        </p:txBody>
      </p:sp>
      <p:sp>
        <p:nvSpPr>
          <p:cNvPr id="13" name="TextBox 12"/>
          <p:cNvSpPr txBox="1"/>
          <p:nvPr/>
        </p:nvSpPr>
        <p:spPr>
          <a:xfrm>
            <a:off x="3300984" y="2807208"/>
            <a:ext cx="1124712" cy="384048"/>
          </a:xfrm>
          <a:prstGeom prst="rect">
            <a:avLst/>
          </a:prstGeom>
          <a:noFill/>
        </p:spPr>
        <p:txBody>
          <a:bodyPr wrap="square" lIns="54864" tIns="54864" rIns="54864" bIns="54864">
            <a:spAutoFit/>
          </a:bodyPr>
          <a:lstStyle/>
          <a:p>
            <a:pPr algn="ctr"/>
            <a:r>
              <a:rPr sz="900" b="0">
                <a:solidFill>
                  <a:srgbClr val="20242D"/>
                </a:solidFill>
                <a:latin typeface="Aptos"/>
              </a:rPr>
              <a:t>Scale + encode</a:t>
            </a:r>
          </a:p>
        </p:txBody>
      </p:sp>
      <p:cxnSp>
        <p:nvCxnSpPr>
          <p:cNvPr id="14" name="Connector 13"/>
          <p:cNvCxnSpPr/>
          <p:nvPr/>
        </p:nvCxnSpPr>
        <p:spPr>
          <a:xfrm>
            <a:off x="4480560" y="2807208"/>
            <a:ext cx="182880" cy="1645919"/>
          </a:xfrm>
          <a:prstGeom prst="line">
            <a:avLst/>
          </a:prstGeom>
          <a:ln w="19050">
            <a:solidFill>
              <a:srgbClr val="1068A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3977639"/>
            <a:ext cx="1234440" cy="9601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18304" y="4087368"/>
            <a:ext cx="1124712" cy="320040"/>
          </a:xfrm>
          <a:prstGeom prst="rect">
            <a:avLst/>
          </a:prstGeom>
          <a:noFill/>
        </p:spPr>
        <p:txBody>
          <a:bodyPr wrap="square" lIns="54864" tIns="54864" rIns="54864" bIns="54864">
            <a:spAutoFit/>
          </a:bodyPr>
          <a:lstStyle/>
          <a:p>
            <a:pPr algn="ctr"/>
            <a:r>
              <a:rPr sz="1200" b="1">
                <a:solidFill>
                  <a:srgbClr val="1F1F5B"/>
                </a:solidFill>
                <a:latin typeface="Aptos"/>
              </a:rPr>
              <a:t>Features</a:t>
            </a:r>
          </a:p>
        </p:txBody>
      </p:sp>
      <p:sp>
        <p:nvSpPr>
          <p:cNvPr id="17" name="TextBox 16"/>
          <p:cNvSpPr txBox="1"/>
          <p:nvPr/>
        </p:nvSpPr>
        <p:spPr>
          <a:xfrm>
            <a:off x="4718304" y="4453127"/>
            <a:ext cx="1124712" cy="384048"/>
          </a:xfrm>
          <a:prstGeom prst="rect">
            <a:avLst/>
          </a:prstGeom>
          <a:noFill/>
        </p:spPr>
        <p:txBody>
          <a:bodyPr wrap="square" lIns="54864" tIns="54864" rIns="54864" bIns="54864">
            <a:spAutoFit/>
          </a:bodyPr>
          <a:lstStyle/>
          <a:p>
            <a:pPr algn="ctr"/>
            <a:r>
              <a:rPr sz="900" b="0">
                <a:solidFill>
                  <a:srgbClr val="20242D"/>
                </a:solidFill>
                <a:latin typeface="Aptos"/>
              </a:rPr>
              <a:t>Vehicle age + age group</a:t>
            </a:r>
          </a:p>
        </p:txBody>
      </p:sp>
      <p:cxnSp>
        <p:nvCxnSpPr>
          <p:cNvPr id="18" name="Connector 17"/>
          <p:cNvCxnSpPr/>
          <p:nvPr/>
        </p:nvCxnSpPr>
        <p:spPr>
          <a:xfrm flipV="1">
            <a:off x="5897880" y="2807208"/>
            <a:ext cx="182880" cy="1645919"/>
          </a:xfrm>
          <a:prstGeom prst="line">
            <a:avLst/>
          </a:prstGeom>
          <a:ln w="19050">
            <a:solidFill>
              <a:srgbClr val="1068A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080760" y="2331720"/>
            <a:ext cx="1234440" cy="9601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35624" y="2441448"/>
            <a:ext cx="1124712" cy="320040"/>
          </a:xfrm>
          <a:prstGeom prst="rect">
            <a:avLst/>
          </a:prstGeom>
          <a:noFill/>
        </p:spPr>
        <p:txBody>
          <a:bodyPr wrap="square" lIns="54864" tIns="54864" rIns="54864" bIns="54864">
            <a:spAutoFit/>
          </a:bodyPr>
          <a:lstStyle/>
          <a:p>
            <a:pPr algn="ctr"/>
            <a:r>
              <a:rPr sz="1200" b="1">
                <a:solidFill>
                  <a:srgbClr val="1F1F5B"/>
                </a:solidFill>
                <a:latin typeface="Aptos"/>
              </a:rPr>
              <a:t>Train</a:t>
            </a:r>
          </a:p>
        </p:txBody>
      </p:sp>
      <p:sp>
        <p:nvSpPr>
          <p:cNvPr id="21" name="TextBox 20"/>
          <p:cNvSpPr txBox="1"/>
          <p:nvPr/>
        </p:nvSpPr>
        <p:spPr>
          <a:xfrm>
            <a:off x="6135624" y="2807208"/>
            <a:ext cx="1124712" cy="384048"/>
          </a:xfrm>
          <a:prstGeom prst="rect">
            <a:avLst/>
          </a:prstGeom>
          <a:noFill/>
        </p:spPr>
        <p:txBody>
          <a:bodyPr wrap="square" lIns="54864" tIns="54864" rIns="54864" bIns="54864">
            <a:spAutoFit/>
          </a:bodyPr>
          <a:lstStyle/>
          <a:p>
            <a:pPr algn="ctr"/>
            <a:r>
              <a:rPr sz="900" b="0">
                <a:solidFill>
                  <a:srgbClr val="20242D"/>
                </a:solidFill>
                <a:latin typeface="Aptos"/>
              </a:rPr>
              <a:t>3 ML models</a:t>
            </a:r>
          </a:p>
        </p:txBody>
      </p:sp>
      <p:cxnSp>
        <p:nvCxnSpPr>
          <p:cNvPr id="22" name="Connector 21"/>
          <p:cNvCxnSpPr/>
          <p:nvPr/>
        </p:nvCxnSpPr>
        <p:spPr>
          <a:xfrm>
            <a:off x="7315200" y="2807208"/>
            <a:ext cx="182879" cy="1645919"/>
          </a:xfrm>
          <a:prstGeom prst="line">
            <a:avLst/>
          </a:prstGeom>
          <a:ln w="19050">
            <a:solidFill>
              <a:srgbClr val="1068A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98079" y="3977639"/>
            <a:ext cx="1234440" cy="9601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52944" y="4087368"/>
            <a:ext cx="1124712" cy="320040"/>
          </a:xfrm>
          <a:prstGeom prst="rect">
            <a:avLst/>
          </a:prstGeom>
          <a:noFill/>
        </p:spPr>
        <p:txBody>
          <a:bodyPr wrap="square" lIns="54864" tIns="54864" rIns="54864" bIns="54864">
            <a:spAutoFit/>
          </a:bodyPr>
          <a:lstStyle/>
          <a:p>
            <a:pPr algn="ctr"/>
            <a:r>
              <a:rPr sz="1200" b="1">
                <a:solidFill>
                  <a:srgbClr val="1F1F5B"/>
                </a:solidFill>
                <a:latin typeface="Aptos"/>
              </a:rPr>
              <a:t>Evaluate</a:t>
            </a:r>
          </a:p>
        </p:txBody>
      </p:sp>
      <p:sp>
        <p:nvSpPr>
          <p:cNvPr id="25" name="TextBox 24"/>
          <p:cNvSpPr txBox="1"/>
          <p:nvPr/>
        </p:nvSpPr>
        <p:spPr>
          <a:xfrm>
            <a:off x="7552944" y="4453127"/>
            <a:ext cx="1124712" cy="384048"/>
          </a:xfrm>
          <a:prstGeom prst="rect">
            <a:avLst/>
          </a:prstGeom>
          <a:noFill/>
        </p:spPr>
        <p:txBody>
          <a:bodyPr wrap="square" lIns="54864" tIns="54864" rIns="54864" bIns="54864">
            <a:spAutoFit/>
          </a:bodyPr>
          <a:lstStyle/>
          <a:p>
            <a:pPr algn="ctr"/>
            <a:r>
              <a:rPr sz="900" b="0">
                <a:solidFill>
                  <a:srgbClr val="20242D"/>
                </a:solidFill>
                <a:latin typeface="Aptos"/>
              </a:rPr>
              <a:t>Accuracy + Precision + Recall + F1 + ROC-AUC</a:t>
            </a:r>
          </a:p>
        </p:txBody>
      </p:sp>
      <p:cxnSp>
        <p:nvCxnSpPr>
          <p:cNvPr id="26" name="Connector 25"/>
          <p:cNvCxnSpPr/>
          <p:nvPr/>
        </p:nvCxnSpPr>
        <p:spPr>
          <a:xfrm flipV="1">
            <a:off x="8732519" y="2807208"/>
            <a:ext cx="182881" cy="1645919"/>
          </a:xfrm>
          <a:prstGeom prst="line">
            <a:avLst/>
          </a:prstGeom>
          <a:ln w="19050">
            <a:solidFill>
              <a:srgbClr val="1068AD"/>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5400" y="2331720"/>
            <a:ext cx="1234440" cy="9601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70264" y="2441448"/>
            <a:ext cx="1124712" cy="320040"/>
          </a:xfrm>
          <a:prstGeom prst="rect">
            <a:avLst/>
          </a:prstGeom>
          <a:noFill/>
        </p:spPr>
        <p:txBody>
          <a:bodyPr wrap="square" lIns="54864" tIns="54864" rIns="54864" bIns="54864">
            <a:spAutoFit/>
          </a:bodyPr>
          <a:lstStyle/>
          <a:p>
            <a:pPr algn="ctr"/>
            <a:r>
              <a:rPr sz="1200" b="1">
                <a:solidFill>
                  <a:srgbClr val="1F1F5B"/>
                </a:solidFill>
                <a:latin typeface="Aptos"/>
              </a:rPr>
              <a:t>Tune</a:t>
            </a:r>
          </a:p>
        </p:txBody>
      </p:sp>
      <p:sp>
        <p:nvSpPr>
          <p:cNvPr id="29" name="TextBox 28"/>
          <p:cNvSpPr txBox="1"/>
          <p:nvPr/>
        </p:nvSpPr>
        <p:spPr>
          <a:xfrm>
            <a:off x="8970264" y="2807208"/>
            <a:ext cx="1124712" cy="384048"/>
          </a:xfrm>
          <a:prstGeom prst="rect">
            <a:avLst/>
          </a:prstGeom>
          <a:noFill/>
        </p:spPr>
        <p:txBody>
          <a:bodyPr wrap="square" lIns="54864" tIns="54864" rIns="54864" bIns="54864">
            <a:spAutoFit/>
          </a:bodyPr>
          <a:lstStyle/>
          <a:p>
            <a:pPr algn="ctr"/>
            <a:r>
              <a:rPr sz="900" b="0">
                <a:solidFill>
                  <a:srgbClr val="20242D"/>
                </a:solidFill>
                <a:latin typeface="Aptos"/>
              </a:rPr>
              <a:t>RandomizedSearchCV</a:t>
            </a:r>
          </a:p>
        </p:txBody>
      </p:sp>
      <p:cxnSp>
        <p:nvCxnSpPr>
          <p:cNvPr id="30" name="Connector 29"/>
          <p:cNvCxnSpPr/>
          <p:nvPr/>
        </p:nvCxnSpPr>
        <p:spPr>
          <a:xfrm>
            <a:off x="10149840" y="2807208"/>
            <a:ext cx="182879" cy="1645919"/>
          </a:xfrm>
          <a:prstGeom prst="line">
            <a:avLst/>
          </a:prstGeom>
          <a:ln w="19050">
            <a:solidFill>
              <a:srgbClr val="1068AD"/>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332719" y="3977639"/>
            <a:ext cx="1234440" cy="9601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87584" y="4087368"/>
            <a:ext cx="1124712" cy="320040"/>
          </a:xfrm>
          <a:prstGeom prst="rect">
            <a:avLst/>
          </a:prstGeom>
          <a:noFill/>
        </p:spPr>
        <p:txBody>
          <a:bodyPr wrap="square" lIns="54864" tIns="54864" rIns="54864" bIns="54864">
            <a:spAutoFit/>
          </a:bodyPr>
          <a:lstStyle/>
          <a:p>
            <a:pPr algn="ctr"/>
            <a:r>
              <a:rPr sz="1200" b="1">
                <a:solidFill>
                  <a:srgbClr val="1F1F5B"/>
                </a:solidFill>
                <a:latin typeface="Aptos"/>
              </a:rPr>
              <a:t>Deploy</a:t>
            </a:r>
          </a:p>
        </p:txBody>
      </p:sp>
      <p:sp>
        <p:nvSpPr>
          <p:cNvPr id="33" name="TextBox 32"/>
          <p:cNvSpPr txBox="1"/>
          <p:nvPr/>
        </p:nvSpPr>
        <p:spPr>
          <a:xfrm>
            <a:off x="10387584" y="4453127"/>
            <a:ext cx="1124712" cy="384048"/>
          </a:xfrm>
          <a:prstGeom prst="rect">
            <a:avLst/>
          </a:prstGeom>
          <a:noFill/>
        </p:spPr>
        <p:txBody>
          <a:bodyPr wrap="square" lIns="54864" tIns="54864" rIns="54864" bIns="54864">
            <a:spAutoFit/>
          </a:bodyPr>
          <a:lstStyle/>
          <a:p>
            <a:pPr algn="ctr"/>
            <a:r>
              <a:rPr sz="900" b="0">
                <a:solidFill>
                  <a:srgbClr val="20242D"/>
                </a:solidFill>
                <a:latin typeface="Aptos"/>
              </a:rPr>
              <a:t>Save .pkl + predict.py / app</a:t>
            </a:r>
          </a:p>
        </p:txBody>
      </p:sp>
      <p:sp>
        <p:nvSpPr>
          <p:cNvPr id="34" name="TextBox 33"/>
          <p:cNvSpPr txBox="1"/>
          <p:nvPr/>
        </p:nvSpPr>
        <p:spPr>
          <a:xfrm>
            <a:off x="1874519" y="5715000"/>
            <a:ext cx="8138160" cy="502920"/>
          </a:xfrm>
          <a:prstGeom prst="rect">
            <a:avLst/>
          </a:prstGeom>
          <a:solidFill>
            <a:srgbClr val="F3F6FA"/>
          </a:solidFill>
          <a:ln>
            <a:solidFill>
              <a:srgbClr val="F3F6FA"/>
            </a:solidFill>
          </a:ln>
        </p:spPr>
        <p:txBody>
          <a:bodyPr wrap="square" lIns="54864" tIns="54864" rIns="54864" bIns="54864">
            <a:spAutoFit/>
          </a:bodyPr>
          <a:lstStyle/>
          <a:p>
            <a:pPr algn="ctr"/>
            <a:r>
              <a:rPr sz="1500" b="1">
                <a:solidFill>
                  <a:srgbClr val="1F1F5B"/>
                </a:solidFill>
                <a:latin typeface="Aptos"/>
              </a:rPr>
              <a:t>The same preprocessing pipeline is retained when generating predictions on new customer data.</a:t>
            </a:r>
          </a:p>
        </p:txBody>
      </p:sp>
      <p:sp>
        <p:nvSpPr>
          <p:cNvPr id="35" name="TextBox 34"/>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8. Model Building</a:t>
            </a:r>
          </a:p>
        </p:txBody>
      </p:sp>
      <p:sp>
        <p:nvSpPr>
          <p:cNvPr id="3" name="Content Placeholder 2"/>
          <p:cNvSpPr>
            <a:spLocks noGrp="1"/>
          </p:cNvSpPr>
          <p:nvPr>
            <p:ph idx="1"/>
          </p:nvPr>
        </p:nvSpPr>
        <p:spPr/>
        <p:txBody>
          <a:bodyPr wrap="square"/>
          <a:lstStyle/>
          <a:p>
            <a:pPr>
              <a:spcAft>
                <a:spcPts val="700"/>
              </a:spcAft>
            </a:pPr>
            <a:r>
              <a:rPr sz="1700">
                <a:solidFill>
                  <a:srgbClr val="20242D"/>
                </a:solidFill>
                <a:latin typeface="Aptos"/>
              </a:rPr>
              <a:t>Logistic Regression — baseline linear classification model; class_weight="balanced" and max_iter=1000.</a:t>
            </a:r>
          </a:p>
          <a:p>
            <a:pPr>
              <a:spcAft>
                <a:spcPts val="700"/>
              </a:spcAft>
            </a:pPr>
            <a:r>
              <a:rPr sz="1700">
                <a:solidFill>
                  <a:srgbClr val="20242D"/>
                </a:solidFill>
                <a:latin typeface="Aptos"/>
              </a:rPr>
              <a:t>Decision Tree — captures non-linear rules and interactions between features; class_weight="balanced".</a:t>
            </a:r>
          </a:p>
          <a:p>
            <a:pPr>
              <a:spcAft>
                <a:spcPts val="700"/>
              </a:spcAft>
            </a:pPr>
            <a:r>
              <a:rPr sz="1700">
                <a:solidFill>
                  <a:srgbClr val="20242D"/>
                </a:solidFill>
                <a:latin typeface="Aptos"/>
              </a:rPr>
              <a:t>Random Forest — ensemble of decision trees; 500 trees, max_depth=15, class_weight="balanced", n_jobs=-1.</a:t>
            </a:r>
          </a:p>
          <a:p>
            <a:pPr>
              <a:spcAft>
                <a:spcPts val="700"/>
              </a:spcAft>
            </a:pPr>
            <a:r>
              <a:rPr sz="1700">
                <a:solidFill>
                  <a:srgbClr val="20242D"/>
                </a:solidFill>
                <a:latin typeface="Aptos"/>
              </a:rPr>
              <a:t>For each model, predicted class labels and response probabilities were generated for evaluation.</a:t>
            </a:r>
          </a:p>
        </p:txBody>
      </p:sp>
      <p:sp>
        <p:nvSpPr>
          <p:cNvPr id="4" name="Rounded Rectangle 3"/>
          <p:cNvSpPr/>
          <p:nvPr/>
        </p:nvSpPr>
        <p:spPr>
          <a:xfrm>
            <a:off x="6720840" y="4251960"/>
            <a:ext cx="3931920" cy="12344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720840" y="4251960"/>
            <a:ext cx="73152" cy="1234440"/>
          </a:xfrm>
          <a:prstGeom prst="rect">
            <a:avLst/>
          </a:prstGeom>
          <a:solidFill>
            <a:srgbClr val="106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85431" y="4379976"/>
            <a:ext cx="3657600" cy="365760"/>
          </a:xfrm>
          <a:prstGeom prst="rect">
            <a:avLst/>
          </a:prstGeom>
          <a:noFill/>
        </p:spPr>
        <p:txBody>
          <a:bodyPr wrap="square" lIns="54864" tIns="54864" rIns="54864" bIns="54864">
            <a:spAutoFit/>
          </a:bodyPr>
          <a:lstStyle/>
          <a:p>
            <a:pPr algn="l"/>
            <a:r>
              <a:rPr sz="1700" b="1">
                <a:solidFill>
                  <a:srgbClr val="1F1F5B"/>
                </a:solidFill>
                <a:latin typeface="Aptos"/>
              </a:rPr>
              <a:t>Why three models?</a:t>
            </a:r>
          </a:p>
        </p:txBody>
      </p:sp>
      <p:sp>
        <p:nvSpPr>
          <p:cNvPr id="7" name="TextBox 6"/>
          <p:cNvSpPr txBox="1"/>
          <p:nvPr/>
        </p:nvSpPr>
        <p:spPr>
          <a:xfrm>
            <a:off x="6885431" y="4782312"/>
            <a:ext cx="3657600" cy="612648"/>
          </a:xfrm>
          <a:prstGeom prst="rect">
            <a:avLst/>
          </a:prstGeom>
          <a:noFill/>
        </p:spPr>
        <p:txBody>
          <a:bodyPr wrap="square" lIns="54864" tIns="54864" rIns="54864" bIns="54864">
            <a:spAutoFit/>
          </a:bodyPr>
          <a:lstStyle/>
          <a:p>
            <a:pPr algn="l"/>
            <a:r>
              <a:rPr sz="1400" b="0">
                <a:solidFill>
                  <a:srgbClr val="20242D"/>
                </a:solidFill>
                <a:latin typeface="Aptos"/>
              </a:rPr>
              <a:t>Compare a linear baseline, a single tree and an ensemble model under the same preprocessing framework.</a:t>
            </a:r>
          </a:p>
        </p:txBody>
      </p:sp>
      <p:sp>
        <p:nvSpPr>
          <p:cNvPr id="8" name="TextBox 7"/>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9. Model Evaluation — Comparison</a:t>
            </a:r>
          </a:p>
        </p:txBody>
      </p:sp>
      <p:pic>
        <p:nvPicPr>
          <p:cNvPr id="3" name="Picture 2" descr="model_comparison.png"/>
          <p:cNvPicPr>
            <a:picLocks noChangeAspect="1"/>
          </p:cNvPicPr>
          <p:nvPr/>
        </p:nvPicPr>
        <p:blipFill>
          <a:blip r:embed="rId2"/>
          <a:stretch>
            <a:fillRect/>
          </a:stretch>
        </p:blipFill>
        <p:spPr>
          <a:xfrm>
            <a:off x="502920" y="1143000"/>
            <a:ext cx="6629400" cy="4297680"/>
          </a:xfrm>
          <a:prstGeom prst="rect">
            <a:avLst/>
          </a:prstGeom>
        </p:spPr>
      </p:pic>
      <p:graphicFrame>
        <p:nvGraphicFramePr>
          <p:cNvPr id="4" name="Table 3"/>
          <p:cNvGraphicFramePr>
            <a:graphicFrameLocks noGrp="1"/>
          </p:cNvGraphicFramePr>
          <p:nvPr/>
        </p:nvGraphicFramePr>
        <p:xfrm>
          <a:off x="7315200" y="1325880"/>
          <a:ext cx="3657600" cy="402336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804672">
                <a:tc>
                  <a:txBody>
                    <a:bodyPr/>
                    <a:lstStyle/>
                    <a:p>
                      <a:r>
                        <a:rPr sz="900" b="1">
                          <a:solidFill>
                            <a:srgbClr val="FFFFFF"/>
                          </a:solidFill>
                        </a:rPr>
                        <a:t>Model</a:t>
                      </a:r>
                    </a:p>
                  </a:txBody>
                  <a:tcPr>
                    <a:solidFill>
                      <a:srgbClr val="1F1F5B"/>
                    </a:solidFill>
                  </a:tcPr>
                </a:tc>
                <a:tc>
                  <a:txBody>
                    <a:bodyPr/>
                    <a:lstStyle/>
                    <a:p>
                      <a:r>
                        <a:rPr sz="900" b="1">
                          <a:solidFill>
                            <a:srgbClr val="FFFFFF"/>
                          </a:solidFill>
                        </a:rPr>
                        <a:t>Acc.</a:t>
                      </a:r>
                    </a:p>
                  </a:txBody>
                  <a:tcPr>
                    <a:solidFill>
                      <a:srgbClr val="1F1F5B"/>
                    </a:solidFill>
                  </a:tcPr>
                </a:tc>
                <a:tc>
                  <a:txBody>
                    <a:bodyPr/>
                    <a:lstStyle/>
                    <a:p>
                      <a:r>
                        <a:rPr sz="900" b="1">
                          <a:solidFill>
                            <a:srgbClr val="FFFFFF"/>
                          </a:solidFill>
                        </a:rPr>
                        <a:t>Prec.</a:t>
                      </a:r>
                    </a:p>
                  </a:txBody>
                  <a:tcPr>
                    <a:solidFill>
                      <a:srgbClr val="1F1F5B"/>
                    </a:solidFill>
                  </a:tcPr>
                </a:tc>
                <a:tc>
                  <a:txBody>
                    <a:bodyPr/>
                    <a:lstStyle/>
                    <a:p>
                      <a:r>
                        <a:rPr sz="900" b="1">
                          <a:solidFill>
                            <a:srgbClr val="FFFFFF"/>
                          </a:solidFill>
                        </a:rPr>
                        <a:t>Recall</a:t>
                      </a:r>
                    </a:p>
                  </a:txBody>
                  <a:tcPr>
                    <a:solidFill>
                      <a:srgbClr val="1F1F5B"/>
                    </a:solidFill>
                  </a:tcPr>
                </a:tc>
                <a:tc>
                  <a:txBody>
                    <a:bodyPr/>
                    <a:lstStyle/>
                    <a:p>
                      <a:r>
                        <a:rPr sz="900" b="1">
                          <a:solidFill>
                            <a:srgbClr val="FFFFFF"/>
                          </a:solidFill>
                        </a:rPr>
                        <a:t>F1</a:t>
                      </a:r>
                    </a:p>
                  </a:txBody>
                  <a:tcPr>
                    <a:solidFill>
                      <a:srgbClr val="1F1F5B"/>
                    </a:solidFill>
                  </a:tcPr>
                </a:tc>
                <a:tc>
                  <a:txBody>
                    <a:bodyPr/>
                    <a:lstStyle/>
                    <a:p>
                      <a:r>
                        <a:rPr sz="900" b="1">
                          <a:solidFill>
                            <a:srgbClr val="FFFFFF"/>
                          </a:solidFill>
                        </a:rPr>
                        <a:t>AUC</a:t>
                      </a:r>
                    </a:p>
                  </a:txBody>
                  <a:tcPr>
                    <a:solidFill>
                      <a:srgbClr val="1F1F5B"/>
                    </a:solidFill>
                  </a:tcPr>
                </a:tc>
                <a:extLst>
                  <a:ext uri="{0D108BD9-81ED-4DB2-BD59-A6C34878D82A}">
                    <a16:rowId xmlns:a16="http://schemas.microsoft.com/office/drawing/2014/main" val="10000"/>
                  </a:ext>
                </a:extLst>
              </a:tr>
              <a:tr h="804672">
                <a:tc>
                  <a:txBody>
                    <a:bodyPr/>
                    <a:lstStyle/>
                    <a:p>
                      <a:r>
                        <a:rPr sz="800">
                          <a:solidFill>
                            <a:srgbClr val="20242D"/>
                          </a:solidFill>
                        </a:rPr>
                        <a:t>Logistic</a:t>
                      </a:r>
                    </a:p>
                  </a:txBody>
                  <a:tcPr>
                    <a:solidFill>
                      <a:srgbClr val="FFFFFF"/>
                    </a:solidFill>
                  </a:tcPr>
                </a:tc>
                <a:tc>
                  <a:txBody>
                    <a:bodyPr/>
                    <a:lstStyle/>
                    <a:p>
                      <a:r>
                        <a:rPr sz="800">
                          <a:solidFill>
                            <a:srgbClr val="20242D"/>
                          </a:solidFill>
                        </a:rPr>
                        <a:t>69.75%</a:t>
                      </a:r>
                    </a:p>
                  </a:txBody>
                  <a:tcPr>
                    <a:solidFill>
                      <a:srgbClr val="FFFFFF"/>
                    </a:solidFill>
                  </a:tcPr>
                </a:tc>
                <a:tc>
                  <a:txBody>
                    <a:bodyPr/>
                    <a:lstStyle/>
                    <a:p>
                      <a:r>
                        <a:rPr sz="800">
                          <a:solidFill>
                            <a:srgbClr val="20242D"/>
                          </a:solidFill>
                        </a:rPr>
                        <a:t>27.73%</a:t>
                      </a:r>
                    </a:p>
                  </a:txBody>
                  <a:tcPr>
                    <a:solidFill>
                      <a:srgbClr val="FFFFFF"/>
                    </a:solidFill>
                  </a:tcPr>
                </a:tc>
                <a:tc>
                  <a:txBody>
                    <a:bodyPr/>
                    <a:lstStyle/>
                    <a:p>
                      <a:r>
                        <a:rPr sz="800">
                          <a:solidFill>
                            <a:srgbClr val="20242D"/>
                          </a:solidFill>
                        </a:rPr>
                        <a:t>91.42%</a:t>
                      </a:r>
                    </a:p>
                  </a:txBody>
                  <a:tcPr>
                    <a:solidFill>
                      <a:srgbClr val="FFFFFF"/>
                    </a:solidFill>
                  </a:tcPr>
                </a:tc>
                <a:tc>
                  <a:txBody>
                    <a:bodyPr/>
                    <a:lstStyle/>
                    <a:p>
                      <a:r>
                        <a:rPr sz="800">
                          <a:solidFill>
                            <a:srgbClr val="20242D"/>
                          </a:solidFill>
                        </a:rPr>
                        <a:t>42.56%</a:t>
                      </a:r>
                    </a:p>
                  </a:txBody>
                  <a:tcPr>
                    <a:solidFill>
                      <a:srgbClr val="FFFFFF"/>
                    </a:solidFill>
                  </a:tcPr>
                </a:tc>
                <a:tc>
                  <a:txBody>
                    <a:bodyPr/>
                    <a:lstStyle/>
                    <a:p>
                      <a:r>
                        <a:rPr sz="800">
                          <a:solidFill>
                            <a:srgbClr val="20242D"/>
                          </a:solidFill>
                        </a:rPr>
                        <a:t>84.45%</a:t>
                      </a:r>
                    </a:p>
                  </a:txBody>
                  <a:tcPr>
                    <a:solidFill>
                      <a:srgbClr val="FFFFFF"/>
                    </a:solidFill>
                  </a:tcPr>
                </a:tc>
                <a:extLst>
                  <a:ext uri="{0D108BD9-81ED-4DB2-BD59-A6C34878D82A}">
                    <a16:rowId xmlns:a16="http://schemas.microsoft.com/office/drawing/2014/main" val="10001"/>
                  </a:ext>
                </a:extLst>
              </a:tr>
              <a:tr h="804672">
                <a:tc>
                  <a:txBody>
                    <a:bodyPr/>
                    <a:lstStyle/>
                    <a:p>
                      <a:r>
                        <a:rPr sz="800">
                          <a:solidFill>
                            <a:srgbClr val="20242D"/>
                          </a:solidFill>
                        </a:rPr>
                        <a:t>Decision Tree</a:t>
                      </a:r>
                    </a:p>
                  </a:txBody>
                  <a:tcPr>
                    <a:solidFill>
                      <a:srgbClr val="F3F6FA"/>
                    </a:solidFill>
                  </a:tcPr>
                </a:tc>
                <a:tc>
                  <a:txBody>
                    <a:bodyPr/>
                    <a:lstStyle/>
                    <a:p>
                      <a:r>
                        <a:rPr sz="800">
                          <a:solidFill>
                            <a:srgbClr val="20242D"/>
                          </a:solidFill>
                        </a:rPr>
                        <a:t>73.53%</a:t>
                      </a:r>
                    </a:p>
                  </a:txBody>
                  <a:tcPr>
                    <a:solidFill>
                      <a:srgbClr val="F3F6FA"/>
                    </a:solidFill>
                  </a:tcPr>
                </a:tc>
                <a:tc>
                  <a:txBody>
                    <a:bodyPr/>
                    <a:lstStyle/>
                    <a:p>
                      <a:r>
                        <a:rPr sz="800">
                          <a:solidFill>
                            <a:srgbClr val="20242D"/>
                          </a:solidFill>
                        </a:rPr>
                        <a:t>28.98%</a:t>
                      </a:r>
                    </a:p>
                  </a:txBody>
                  <a:tcPr>
                    <a:solidFill>
                      <a:srgbClr val="F3F6FA"/>
                    </a:solidFill>
                  </a:tcPr>
                </a:tc>
                <a:tc>
                  <a:txBody>
                    <a:bodyPr/>
                    <a:lstStyle/>
                    <a:p>
                      <a:r>
                        <a:rPr sz="800">
                          <a:solidFill>
                            <a:srgbClr val="20242D"/>
                          </a:solidFill>
                        </a:rPr>
                        <a:t>79.93%</a:t>
                      </a:r>
                    </a:p>
                  </a:txBody>
                  <a:tcPr>
                    <a:solidFill>
                      <a:srgbClr val="F3F6FA"/>
                    </a:solidFill>
                  </a:tcPr>
                </a:tc>
                <a:tc>
                  <a:txBody>
                    <a:bodyPr/>
                    <a:lstStyle/>
                    <a:p>
                      <a:r>
                        <a:rPr sz="800">
                          <a:solidFill>
                            <a:srgbClr val="20242D"/>
                          </a:solidFill>
                        </a:rPr>
                        <a:t>42.54%</a:t>
                      </a:r>
                    </a:p>
                  </a:txBody>
                  <a:tcPr>
                    <a:solidFill>
                      <a:srgbClr val="F3F6FA"/>
                    </a:solidFill>
                  </a:tcPr>
                </a:tc>
                <a:tc>
                  <a:txBody>
                    <a:bodyPr/>
                    <a:lstStyle/>
                    <a:p>
                      <a:r>
                        <a:rPr sz="800">
                          <a:solidFill>
                            <a:srgbClr val="20242D"/>
                          </a:solidFill>
                        </a:rPr>
                        <a:t>78.55%</a:t>
                      </a:r>
                    </a:p>
                  </a:txBody>
                  <a:tcPr>
                    <a:solidFill>
                      <a:srgbClr val="F3F6FA"/>
                    </a:solidFill>
                  </a:tcPr>
                </a:tc>
                <a:extLst>
                  <a:ext uri="{0D108BD9-81ED-4DB2-BD59-A6C34878D82A}">
                    <a16:rowId xmlns:a16="http://schemas.microsoft.com/office/drawing/2014/main" val="10002"/>
                  </a:ext>
                </a:extLst>
              </a:tr>
              <a:tr h="804672">
                <a:tc>
                  <a:txBody>
                    <a:bodyPr/>
                    <a:lstStyle/>
                    <a:p>
                      <a:r>
                        <a:rPr sz="800">
                          <a:solidFill>
                            <a:srgbClr val="20242D"/>
                          </a:solidFill>
                        </a:rPr>
                        <a:t>Random Forest</a:t>
                      </a:r>
                    </a:p>
                  </a:txBody>
                  <a:tcPr>
                    <a:solidFill>
                      <a:srgbClr val="FFFFFF"/>
                    </a:solidFill>
                  </a:tcPr>
                </a:tc>
                <a:tc>
                  <a:txBody>
                    <a:bodyPr/>
                    <a:lstStyle/>
                    <a:p>
                      <a:r>
                        <a:rPr sz="800">
                          <a:solidFill>
                            <a:srgbClr val="20242D"/>
                          </a:solidFill>
                        </a:rPr>
                        <a:t>72.33%</a:t>
                      </a:r>
                    </a:p>
                  </a:txBody>
                  <a:tcPr>
                    <a:solidFill>
                      <a:srgbClr val="FFFFFF"/>
                    </a:solidFill>
                  </a:tcPr>
                </a:tc>
                <a:tc>
                  <a:txBody>
                    <a:bodyPr/>
                    <a:lstStyle/>
                    <a:p>
                      <a:r>
                        <a:rPr sz="800">
                          <a:solidFill>
                            <a:srgbClr val="20242D"/>
                          </a:solidFill>
                        </a:rPr>
                        <a:t>29.20%</a:t>
                      </a:r>
                    </a:p>
                  </a:txBody>
                  <a:tcPr>
                    <a:solidFill>
                      <a:srgbClr val="FFFFFF"/>
                    </a:solidFill>
                  </a:tcPr>
                </a:tc>
                <a:tc>
                  <a:txBody>
                    <a:bodyPr/>
                    <a:lstStyle/>
                    <a:p>
                      <a:r>
                        <a:rPr sz="800">
                          <a:solidFill>
                            <a:srgbClr val="20242D"/>
                          </a:solidFill>
                        </a:rPr>
                        <a:t>88.26%</a:t>
                      </a:r>
                    </a:p>
                  </a:txBody>
                  <a:tcPr>
                    <a:solidFill>
                      <a:srgbClr val="FFFFFF"/>
                    </a:solidFill>
                  </a:tcPr>
                </a:tc>
                <a:tc>
                  <a:txBody>
                    <a:bodyPr/>
                    <a:lstStyle/>
                    <a:p>
                      <a:r>
                        <a:rPr sz="800">
                          <a:solidFill>
                            <a:srgbClr val="20242D"/>
                          </a:solidFill>
                        </a:rPr>
                        <a:t>43.88%</a:t>
                      </a:r>
                    </a:p>
                  </a:txBody>
                  <a:tcPr>
                    <a:solidFill>
                      <a:srgbClr val="FFFFFF"/>
                    </a:solidFill>
                  </a:tcPr>
                </a:tc>
                <a:tc>
                  <a:txBody>
                    <a:bodyPr/>
                    <a:lstStyle/>
                    <a:p>
                      <a:r>
                        <a:rPr sz="800">
                          <a:solidFill>
                            <a:srgbClr val="20242D"/>
                          </a:solidFill>
                        </a:rPr>
                        <a:t>85.29%</a:t>
                      </a:r>
                    </a:p>
                  </a:txBody>
                  <a:tcPr>
                    <a:solidFill>
                      <a:srgbClr val="FFFFFF"/>
                    </a:solidFill>
                  </a:tcPr>
                </a:tc>
                <a:extLst>
                  <a:ext uri="{0D108BD9-81ED-4DB2-BD59-A6C34878D82A}">
                    <a16:rowId xmlns:a16="http://schemas.microsoft.com/office/drawing/2014/main" val="10003"/>
                  </a:ext>
                </a:extLst>
              </a:tr>
              <a:tr h="804672">
                <a:tc>
                  <a:txBody>
                    <a:bodyPr/>
                    <a:lstStyle/>
                    <a:p>
                      <a:r>
                        <a:rPr sz="800">
                          <a:solidFill>
                            <a:srgbClr val="20242D"/>
                          </a:solidFill>
                        </a:rPr>
                        <a:t>Tuned RF</a:t>
                      </a:r>
                    </a:p>
                  </a:txBody>
                  <a:tcPr>
                    <a:solidFill>
                      <a:srgbClr val="F3F6FA"/>
                    </a:solidFill>
                  </a:tcPr>
                </a:tc>
                <a:tc>
                  <a:txBody>
                    <a:bodyPr/>
                    <a:lstStyle/>
                    <a:p>
                      <a:r>
                        <a:rPr sz="800">
                          <a:solidFill>
                            <a:srgbClr val="20242D"/>
                          </a:solidFill>
                        </a:rPr>
                        <a:t>70.10%</a:t>
                      </a:r>
                    </a:p>
                  </a:txBody>
                  <a:tcPr>
                    <a:solidFill>
                      <a:srgbClr val="F3F6FA"/>
                    </a:solidFill>
                  </a:tcPr>
                </a:tc>
                <a:tc>
                  <a:txBody>
                    <a:bodyPr/>
                    <a:lstStyle/>
                    <a:p>
                      <a:r>
                        <a:rPr sz="800">
                          <a:solidFill>
                            <a:srgbClr val="20242D"/>
                          </a:solidFill>
                        </a:rPr>
                        <a:t>28.10%</a:t>
                      </a:r>
                    </a:p>
                  </a:txBody>
                  <a:tcPr>
                    <a:solidFill>
                      <a:srgbClr val="F3F6FA"/>
                    </a:solidFill>
                  </a:tcPr>
                </a:tc>
                <a:tc>
                  <a:txBody>
                    <a:bodyPr/>
                    <a:lstStyle/>
                    <a:p>
                      <a:r>
                        <a:rPr sz="800">
                          <a:solidFill>
                            <a:srgbClr val="20242D"/>
                          </a:solidFill>
                        </a:rPr>
                        <a:t>92.36%</a:t>
                      </a:r>
                    </a:p>
                  </a:txBody>
                  <a:tcPr>
                    <a:solidFill>
                      <a:srgbClr val="F3F6FA"/>
                    </a:solidFill>
                  </a:tcPr>
                </a:tc>
                <a:tc>
                  <a:txBody>
                    <a:bodyPr/>
                    <a:lstStyle/>
                    <a:p>
                      <a:r>
                        <a:rPr sz="800">
                          <a:solidFill>
                            <a:srgbClr val="20242D"/>
                          </a:solidFill>
                        </a:rPr>
                        <a:t>43.09%</a:t>
                      </a:r>
                    </a:p>
                  </a:txBody>
                  <a:tcPr>
                    <a:solidFill>
                      <a:srgbClr val="F3F6FA"/>
                    </a:solidFill>
                  </a:tcPr>
                </a:tc>
                <a:tc>
                  <a:txBody>
                    <a:bodyPr/>
                    <a:lstStyle/>
                    <a:p>
                      <a:r>
                        <a:rPr sz="800">
                          <a:solidFill>
                            <a:srgbClr val="20242D"/>
                          </a:solidFill>
                        </a:rPr>
                        <a:t>85.44%</a:t>
                      </a:r>
                    </a:p>
                  </a:txBody>
                  <a:tcPr>
                    <a:solidFill>
                      <a:srgbClr val="F3F6FA"/>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85800" y="5715000"/>
            <a:ext cx="10058400" cy="411480"/>
          </a:xfrm>
          <a:prstGeom prst="rect">
            <a:avLst/>
          </a:prstGeom>
          <a:noFill/>
        </p:spPr>
        <p:txBody>
          <a:bodyPr wrap="square" lIns="54864" tIns="54864" rIns="54864" bIns="54864">
            <a:spAutoFit/>
          </a:bodyPr>
          <a:lstStyle/>
          <a:p>
            <a:pPr algn="ctr"/>
            <a:r>
              <a:rPr sz="1400" b="1">
                <a:solidFill>
                  <a:srgbClr val="1F1F5B"/>
                </a:solidFill>
                <a:latin typeface="Aptos"/>
              </a:rPr>
              <a:t>The tuning objective was ROC-AUC; the tuned Random Forest achieved test ROC-AUC 0.8544.</a:t>
            </a:r>
          </a:p>
        </p:txBody>
      </p:sp>
      <p:sp>
        <p:nvSpPr>
          <p:cNvPr id="6" name="TextBox 5"/>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fontScale="90000"/>
          </a:bodyPr>
          <a:lstStyle/>
          <a:p>
            <a:pPr algn="l"/>
            <a:r>
              <a:rPr sz="2800" b="1">
                <a:solidFill>
                  <a:srgbClr val="1F1F5B"/>
                </a:solidFill>
                <a:latin typeface="Aptos"/>
              </a:rPr>
              <a:t>10. Evaluation Deep Dive — Class Imbalance</a:t>
            </a:r>
          </a:p>
        </p:txBody>
      </p:sp>
      <p:sp>
        <p:nvSpPr>
          <p:cNvPr id="3" name="Content Placeholder 2"/>
          <p:cNvSpPr>
            <a:spLocks noGrp="1"/>
          </p:cNvSpPr>
          <p:nvPr>
            <p:ph idx="1"/>
          </p:nvPr>
        </p:nvSpPr>
        <p:spPr/>
        <p:txBody>
          <a:bodyPr/>
          <a:lstStyle/>
          <a:p>
            <a:endParaRPr/>
          </a:p>
        </p:txBody>
      </p:sp>
      <p:pic>
        <p:nvPicPr>
          <p:cNvPr id="4" name="Picture 3" descr="confusion_matrix_tuned.png"/>
          <p:cNvPicPr>
            <a:picLocks noChangeAspect="1"/>
          </p:cNvPicPr>
          <p:nvPr/>
        </p:nvPicPr>
        <p:blipFill>
          <a:blip r:embed="rId2"/>
          <a:stretch>
            <a:fillRect/>
          </a:stretch>
        </p:blipFill>
        <p:spPr>
          <a:xfrm>
            <a:off x="685800" y="1659836"/>
            <a:ext cx="4343400" cy="3538328"/>
          </a:xfrm>
          <a:prstGeom prst="rect">
            <a:avLst/>
          </a:prstGeom>
        </p:spPr>
      </p:pic>
      <p:sp>
        <p:nvSpPr>
          <p:cNvPr id="5" name="Rounded Rectangle 4"/>
          <p:cNvSpPr/>
          <p:nvPr/>
        </p:nvSpPr>
        <p:spPr>
          <a:xfrm>
            <a:off x="5715000" y="1417320"/>
            <a:ext cx="4572000" cy="105156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15000" y="1417320"/>
            <a:ext cx="73152" cy="1051560"/>
          </a:xfrm>
          <a:prstGeom prst="rect">
            <a:avLst/>
          </a:prstGeom>
          <a:solidFill>
            <a:srgbClr val="23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879592" y="1545336"/>
            <a:ext cx="4297680" cy="365760"/>
          </a:xfrm>
          <a:prstGeom prst="rect">
            <a:avLst/>
          </a:prstGeom>
          <a:noFill/>
        </p:spPr>
        <p:txBody>
          <a:bodyPr wrap="square" lIns="54864" tIns="54864" rIns="54864" bIns="54864">
            <a:spAutoFit/>
          </a:bodyPr>
          <a:lstStyle/>
          <a:p>
            <a:pPr algn="l"/>
            <a:r>
              <a:rPr sz="1700" b="1">
                <a:solidFill>
                  <a:srgbClr val="1F1F5B"/>
                </a:solidFill>
                <a:latin typeface="Aptos"/>
              </a:rPr>
              <a:t>Recall = 92.36%</a:t>
            </a:r>
          </a:p>
        </p:txBody>
      </p:sp>
      <p:sp>
        <p:nvSpPr>
          <p:cNvPr id="8" name="TextBox 7"/>
          <p:cNvSpPr txBox="1"/>
          <p:nvPr/>
        </p:nvSpPr>
        <p:spPr>
          <a:xfrm>
            <a:off x="5879592" y="1861944"/>
            <a:ext cx="4297680" cy="429767"/>
          </a:xfrm>
          <a:prstGeom prst="rect">
            <a:avLst/>
          </a:prstGeom>
          <a:noFill/>
        </p:spPr>
        <p:txBody>
          <a:bodyPr wrap="square" lIns="54864" tIns="54864" rIns="54864" bIns="54864">
            <a:spAutoFit/>
          </a:bodyPr>
          <a:lstStyle/>
          <a:p>
            <a:pPr algn="l"/>
            <a:r>
              <a:rPr sz="1400" b="0" dirty="0">
                <a:solidFill>
                  <a:srgbClr val="20242D"/>
                </a:solidFill>
                <a:latin typeface="Aptos"/>
              </a:rPr>
              <a:t>The tuned model identified most of the actual responders in the test set.</a:t>
            </a:r>
          </a:p>
        </p:txBody>
      </p:sp>
      <p:sp>
        <p:nvSpPr>
          <p:cNvPr id="9" name="Rounded Rectangle 8"/>
          <p:cNvSpPr/>
          <p:nvPr/>
        </p:nvSpPr>
        <p:spPr>
          <a:xfrm>
            <a:off x="5715000" y="2697480"/>
            <a:ext cx="4572000" cy="105156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715000" y="2697480"/>
            <a:ext cx="73152" cy="1051560"/>
          </a:xfrm>
          <a:prstGeom prst="rect">
            <a:avLst/>
          </a:prstGeom>
          <a:solidFill>
            <a:srgbClr val="E28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79592" y="2825496"/>
            <a:ext cx="4297680" cy="365760"/>
          </a:xfrm>
          <a:prstGeom prst="rect">
            <a:avLst/>
          </a:prstGeom>
          <a:noFill/>
        </p:spPr>
        <p:txBody>
          <a:bodyPr wrap="square" lIns="54864" tIns="54864" rIns="54864" bIns="54864">
            <a:spAutoFit/>
          </a:bodyPr>
          <a:lstStyle/>
          <a:p>
            <a:pPr algn="l"/>
            <a:r>
              <a:rPr sz="1700" b="1">
                <a:solidFill>
                  <a:srgbClr val="1F1F5B"/>
                </a:solidFill>
                <a:latin typeface="Aptos"/>
              </a:rPr>
              <a:t>Precision = 28.10%</a:t>
            </a:r>
          </a:p>
        </p:txBody>
      </p:sp>
      <p:sp>
        <p:nvSpPr>
          <p:cNvPr id="12" name="TextBox 11"/>
          <p:cNvSpPr txBox="1"/>
          <p:nvPr/>
        </p:nvSpPr>
        <p:spPr>
          <a:xfrm>
            <a:off x="5879592" y="3142104"/>
            <a:ext cx="4297680" cy="429767"/>
          </a:xfrm>
          <a:prstGeom prst="rect">
            <a:avLst/>
          </a:prstGeom>
          <a:noFill/>
        </p:spPr>
        <p:txBody>
          <a:bodyPr wrap="square" lIns="54864" tIns="54864" rIns="54864" bIns="54864">
            <a:spAutoFit/>
          </a:bodyPr>
          <a:lstStyle/>
          <a:p>
            <a:pPr algn="l"/>
            <a:r>
              <a:rPr sz="1400" b="0" dirty="0">
                <a:solidFill>
                  <a:srgbClr val="20242D"/>
                </a:solidFill>
                <a:latin typeface="Aptos"/>
              </a:rPr>
              <a:t>Many customers predicted as responders were actually non-responders.</a:t>
            </a:r>
          </a:p>
        </p:txBody>
      </p:sp>
      <p:sp>
        <p:nvSpPr>
          <p:cNvPr id="13" name="Rounded Rectangle 12"/>
          <p:cNvSpPr/>
          <p:nvPr/>
        </p:nvSpPr>
        <p:spPr>
          <a:xfrm>
            <a:off x="5715000" y="3977639"/>
            <a:ext cx="4572000" cy="105156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715000" y="3977639"/>
            <a:ext cx="73152" cy="1051560"/>
          </a:xfrm>
          <a:prstGeom prst="rect">
            <a:avLst/>
          </a:prstGeom>
          <a:solidFill>
            <a:srgbClr val="106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79592" y="4005639"/>
            <a:ext cx="4297680" cy="365760"/>
          </a:xfrm>
          <a:prstGeom prst="rect">
            <a:avLst/>
          </a:prstGeom>
          <a:noFill/>
        </p:spPr>
        <p:txBody>
          <a:bodyPr wrap="square" lIns="54864" tIns="54864" rIns="54864" bIns="54864">
            <a:spAutoFit/>
          </a:bodyPr>
          <a:lstStyle/>
          <a:p>
            <a:pPr algn="l"/>
            <a:r>
              <a:rPr sz="1700" b="1" dirty="0">
                <a:solidFill>
                  <a:srgbClr val="1F1F5B"/>
                </a:solidFill>
                <a:latin typeface="Aptos"/>
              </a:rPr>
              <a:t>Why this trade-off matters</a:t>
            </a:r>
          </a:p>
        </p:txBody>
      </p:sp>
      <p:sp>
        <p:nvSpPr>
          <p:cNvPr id="16" name="TextBox 15"/>
          <p:cNvSpPr txBox="1"/>
          <p:nvPr/>
        </p:nvSpPr>
        <p:spPr>
          <a:xfrm>
            <a:off x="5879592" y="4322250"/>
            <a:ext cx="4297680" cy="429767"/>
          </a:xfrm>
          <a:prstGeom prst="rect">
            <a:avLst/>
          </a:prstGeom>
          <a:noFill/>
        </p:spPr>
        <p:txBody>
          <a:bodyPr wrap="square" lIns="54864" tIns="54864" rIns="54864" bIns="54864">
            <a:spAutoFit/>
          </a:bodyPr>
          <a:lstStyle/>
          <a:p>
            <a:pPr algn="l"/>
            <a:r>
              <a:rPr sz="1400" b="0" dirty="0">
                <a:solidFill>
                  <a:srgbClr val="20242D"/>
                </a:solidFill>
                <a:latin typeface="Aptos"/>
              </a:rPr>
              <a:t>For outreach use cases, missing a real responder can be costly; however, false positives also create extra campaign effort.</a:t>
            </a:r>
          </a:p>
        </p:txBody>
      </p:sp>
      <p:sp>
        <p:nvSpPr>
          <p:cNvPr id="17" name="TextBox 16"/>
          <p:cNvSpPr txBox="1"/>
          <p:nvPr/>
        </p:nvSpPr>
        <p:spPr>
          <a:xfrm>
            <a:off x="777240" y="5166360"/>
            <a:ext cx="4206240" cy="731520"/>
          </a:xfrm>
          <a:prstGeom prst="rect">
            <a:avLst/>
          </a:prstGeom>
          <a:solidFill>
            <a:srgbClr val="F3F6FA"/>
          </a:solidFill>
          <a:ln>
            <a:solidFill>
              <a:srgbClr val="F3F6FA"/>
            </a:solidFill>
          </a:ln>
        </p:spPr>
        <p:txBody>
          <a:bodyPr wrap="square" lIns="54864" tIns="54864" rIns="54864" bIns="54864">
            <a:spAutoFit/>
          </a:bodyPr>
          <a:lstStyle/>
          <a:p>
            <a:pPr algn="ctr"/>
            <a:r>
              <a:rPr sz="1300" b="0">
                <a:solidFill>
                  <a:srgbClr val="5C636E"/>
                </a:solidFill>
                <a:latin typeface="Aptos"/>
              </a:rPr>
              <a:t>Accuracy can look lower because the model is intentionally identifying more of the minority class.</a:t>
            </a:r>
          </a:p>
        </p:txBody>
      </p:sp>
      <p:sp>
        <p:nvSpPr>
          <p:cNvPr id="18" name="TextBox 17"/>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11. Feature Importance — Random Forest</a:t>
            </a:r>
          </a:p>
        </p:txBody>
      </p:sp>
      <p:pic>
        <p:nvPicPr>
          <p:cNvPr id="3" name="Picture 2" descr="feature_importance.png"/>
          <p:cNvPicPr>
            <a:picLocks noChangeAspect="1"/>
          </p:cNvPicPr>
          <p:nvPr/>
        </p:nvPicPr>
        <p:blipFill>
          <a:blip r:embed="rId2"/>
          <a:stretch>
            <a:fillRect/>
          </a:stretch>
        </p:blipFill>
        <p:spPr>
          <a:xfrm>
            <a:off x="594360" y="1143000"/>
            <a:ext cx="6629400" cy="4526280"/>
          </a:xfrm>
          <a:prstGeom prst="rect">
            <a:avLst/>
          </a:prstGeom>
        </p:spPr>
      </p:pic>
      <p:sp>
        <p:nvSpPr>
          <p:cNvPr id="4" name="TextBox 3"/>
          <p:cNvSpPr txBox="1"/>
          <p:nvPr/>
        </p:nvSpPr>
        <p:spPr>
          <a:xfrm>
            <a:off x="7238048" y="2034544"/>
            <a:ext cx="3840480" cy="2669962"/>
          </a:xfrm>
          <a:prstGeom prst="rect">
            <a:avLst/>
          </a:prstGeom>
          <a:noFill/>
        </p:spPr>
        <p:txBody>
          <a:bodyPr wrap="square">
            <a:spAutoFit/>
          </a:bodyPr>
          <a:lstStyle/>
          <a:p>
            <a:pPr>
              <a:spcAft>
                <a:spcPts val="700"/>
              </a:spcAft>
            </a:pPr>
            <a:r>
              <a:rPr lang="en-IN" sz="1500" b="1" dirty="0">
                <a:solidFill>
                  <a:srgbClr val="20242D"/>
                </a:solidFill>
                <a:latin typeface="Aptos"/>
              </a:rPr>
              <a:t>- </a:t>
            </a:r>
            <a:r>
              <a:rPr sz="1500" b="1" dirty="0">
                <a:solidFill>
                  <a:srgbClr val="20242D"/>
                </a:solidFill>
                <a:latin typeface="Aptos"/>
              </a:rPr>
              <a:t>Vehicle damage indicators contributed strongly to the Random Forest predictions.</a:t>
            </a:r>
          </a:p>
          <a:p>
            <a:pPr>
              <a:spcAft>
                <a:spcPts val="700"/>
              </a:spcAft>
            </a:pPr>
            <a:r>
              <a:rPr lang="en-IN" sz="1500" b="1" dirty="0">
                <a:solidFill>
                  <a:srgbClr val="20242D"/>
                </a:solidFill>
                <a:latin typeface="Aptos"/>
              </a:rPr>
              <a:t>- </a:t>
            </a:r>
            <a:r>
              <a:rPr sz="1500" b="1" dirty="0" err="1">
                <a:solidFill>
                  <a:srgbClr val="20242D"/>
                </a:solidFill>
                <a:latin typeface="Aptos"/>
              </a:rPr>
              <a:t>Previously_Insured</a:t>
            </a:r>
            <a:r>
              <a:rPr sz="1500" b="1" dirty="0">
                <a:solidFill>
                  <a:srgbClr val="20242D"/>
                </a:solidFill>
                <a:latin typeface="Aptos"/>
              </a:rPr>
              <a:t> was another major contributor.</a:t>
            </a:r>
          </a:p>
          <a:p>
            <a:pPr>
              <a:spcAft>
                <a:spcPts val="700"/>
              </a:spcAft>
            </a:pPr>
            <a:r>
              <a:rPr lang="en-IN" sz="1500" b="1" dirty="0">
                <a:solidFill>
                  <a:srgbClr val="20242D"/>
                </a:solidFill>
                <a:latin typeface="Aptos"/>
              </a:rPr>
              <a:t>- </a:t>
            </a:r>
            <a:r>
              <a:rPr sz="1500" b="1" dirty="0">
                <a:solidFill>
                  <a:srgbClr val="20242D"/>
                </a:solidFill>
                <a:latin typeface="Aptos"/>
              </a:rPr>
              <a:t>Age, policy sales channel, vintage and annual premium also contributed.</a:t>
            </a:r>
          </a:p>
          <a:p>
            <a:pPr>
              <a:spcAft>
                <a:spcPts val="700"/>
              </a:spcAft>
            </a:pPr>
            <a:r>
              <a:rPr lang="en-IN" sz="1500" b="1" dirty="0">
                <a:solidFill>
                  <a:srgbClr val="20242D"/>
                </a:solidFill>
                <a:latin typeface="Aptos"/>
              </a:rPr>
              <a:t>- </a:t>
            </a:r>
            <a:r>
              <a:rPr sz="1500" b="1" dirty="0">
                <a:solidFill>
                  <a:srgbClr val="20242D"/>
                </a:solidFill>
                <a:latin typeface="Aptos"/>
              </a:rPr>
              <a:t>Feature importance describes model contribution; it does not establish causation.</a:t>
            </a:r>
          </a:p>
        </p:txBody>
      </p:sp>
      <p:sp>
        <p:nvSpPr>
          <p:cNvPr id="5" name="TextBox 4"/>
          <p:cNvSpPr txBox="1"/>
          <p:nvPr/>
        </p:nvSpPr>
        <p:spPr>
          <a:xfrm>
            <a:off x="7269480" y="5303520"/>
            <a:ext cx="3703320" cy="685800"/>
          </a:xfrm>
          <a:prstGeom prst="rect">
            <a:avLst/>
          </a:prstGeom>
          <a:solidFill>
            <a:srgbClr val="F3F6FA"/>
          </a:solidFill>
          <a:ln>
            <a:solidFill>
              <a:srgbClr val="F3F6FA"/>
            </a:solidFill>
          </a:ln>
        </p:spPr>
        <p:txBody>
          <a:bodyPr wrap="square" lIns="54864" tIns="54864" rIns="54864" bIns="54864">
            <a:spAutoFit/>
          </a:bodyPr>
          <a:lstStyle/>
          <a:p>
            <a:pPr algn="ctr"/>
            <a:r>
              <a:rPr sz="1400" b="1">
                <a:solidFill>
                  <a:srgbClr val="1F1F5B"/>
                </a:solidFill>
                <a:latin typeface="Aptos"/>
              </a:rPr>
              <a:t>Top three groups:</a:t>
            </a:r>
            <a:br/>
            <a:r>
              <a:rPr sz="1400" b="1">
                <a:solidFill>
                  <a:srgbClr val="1F1F5B"/>
                </a:solidFill>
                <a:latin typeface="Aptos"/>
              </a:rPr>
              <a:t>Vehicle Damage • Previously Insured • Age</a:t>
            </a:r>
          </a:p>
        </p:txBody>
      </p:sp>
      <p:sp>
        <p:nvSpPr>
          <p:cNvPr id="6" name="TextBox 5"/>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12. Random Forest Hyperparameter Tuning</a:t>
            </a:r>
          </a:p>
        </p:txBody>
      </p:sp>
      <p:sp>
        <p:nvSpPr>
          <p:cNvPr id="3" name="Content Placeholder 2"/>
          <p:cNvSpPr>
            <a:spLocks noGrp="1"/>
          </p:cNvSpPr>
          <p:nvPr>
            <p:ph idx="1"/>
          </p:nvPr>
        </p:nvSpPr>
        <p:spPr/>
        <p:txBody>
          <a:bodyPr wrap="square"/>
          <a:lstStyle/>
          <a:p>
            <a:pPr>
              <a:spcAft>
                <a:spcPts val="700"/>
              </a:spcAft>
            </a:pPr>
            <a:r>
              <a:rPr sz="1600">
                <a:solidFill>
                  <a:srgbClr val="20242D"/>
                </a:solidFill>
                <a:latin typeface="Aptos"/>
              </a:rPr>
              <a:t>Used RandomizedSearchCV with 10 parameter combinations and 3-fold StratifiedKFold cross-validation.</a:t>
            </a:r>
          </a:p>
          <a:p>
            <a:pPr>
              <a:spcAft>
                <a:spcPts val="700"/>
              </a:spcAft>
            </a:pPr>
            <a:r>
              <a:rPr sz="1600">
                <a:solidFill>
                  <a:srgbClr val="20242D"/>
                </a:solidFill>
                <a:latin typeface="Aptos"/>
              </a:rPr>
              <a:t>Tuned: n_estimators, max_depth, min_samples_split, min_samples_leaf and max_features.</a:t>
            </a:r>
          </a:p>
          <a:p>
            <a:pPr>
              <a:spcAft>
                <a:spcPts val="700"/>
              </a:spcAft>
            </a:pPr>
            <a:r>
              <a:rPr sz="1600">
                <a:solidFill>
                  <a:srgbClr val="20242D"/>
                </a:solidFill>
                <a:latin typeface="Aptos"/>
              </a:rPr>
              <a:t>Scoring metric: ROC-AUC, which is suitable for evaluating ranking/discrimination under class imbalance.</a:t>
            </a:r>
          </a:p>
          <a:p>
            <a:pPr>
              <a:spcAft>
                <a:spcPts val="700"/>
              </a:spcAft>
            </a:pPr>
            <a:r>
              <a:rPr sz="1600">
                <a:solidFill>
                  <a:srgbClr val="20242D"/>
                </a:solidFill>
                <a:latin typeface="Aptos"/>
              </a:rPr>
              <a:t>Best parameters: n_estimators=200, max_depth=12, min_samples_split=10, min_samples_leaf=1, max_features="sqrt".</a:t>
            </a:r>
          </a:p>
          <a:p>
            <a:pPr>
              <a:spcAft>
                <a:spcPts val="700"/>
              </a:spcAft>
            </a:pPr>
            <a:r>
              <a:rPr sz="1600">
                <a:solidFill>
                  <a:srgbClr val="20242D"/>
                </a:solidFill>
                <a:latin typeface="Aptos"/>
              </a:rPr>
              <a:t>Best cross-validation ROC-AUC: 0.8534; tuned test ROC-AUC: 0.8544.</a:t>
            </a:r>
          </a:p>
        </p:txBody>
      </p:sp>
      <p:sp>
        <p:nvSpPr>
          <p:cNvPr id="4" name="Rounded Rectangle 3"/>
          <p:cNvSpPr/>
          <p:nvPr/>
        </p:nvSpPr>
        <p:spPr>
          <a:xfrm>
            <a:off x="6629400" y="4343400"/>
            <a:ext cx="4023360" cy="141732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629400" y="4343400"/>
            <a:ext cx="73152" cy="1417320"/>
          </a:xfrm>
          <a:prstGeom prst="rect">
            <a:avLst/>
          </a:prstGeom>
          <a:solidFill>
            <a:srgbClr val="23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93992" y="4471416"/>
            <a:ext cx="3749040" cy="365760"/>
          </a:xfrm>
          <a:prstGeom prst="rect">
            <a:avLst/>
          </a:prstGeom>
          <a:noFill/>
        </p:spPr>
        <p:txBody>
          <a:bodyPr wrap="square" lIns="54864" tIns="54864" rIns="54864" bIns="54864">
            <a:spAutoFit/>
          </a:bodyPr>
          <a:lstStyle/>
          <a:p>
            <a:pPr algn="l"/>
            <a:r>
              <a:rPr sz="1700" b="1">
                <a:solidFill>
                  <a:srgbClr val="1F1F5B"/>
                </a:solidFill>
                <a:latin typeface="Aptos"/>
              </a:rPr>
              <a:t>Tuning result</a:t>
            </a:r>
          </a:p>
        </p:txBody>
      </p:sp>
      <p:sp>
        <p:nvSpPr>
          <p:cNvPr id="7" name="TextBox 6"/>
          <p:cNvSpPr txBox="1"/>
          <p:nvPr/>
        </p:nvSpPr>
        <p:spPr>
          <a:xfrm>
            <a:off x="6793992" y="4873752"/>
            <a:ext cx="3749040" cy="795528"/>
          </a:xfrm>
          <a:prstGeom prst="rect">
            <a:avLst/>
          </a:prstGeom>
          <a:noFill/>
        </p:spPr>
        <p:txBody>
          <a:bodyPr wrap="square" lIns="54864" tIns="54864" rIns="54864" bIns="54864">
            <a:spAutoFit/>
          </a:bodyPr>
          <a:lstStyle/>
          <a:p>
            <a:pPr algn="l"/>
            <a:r>
              <a:rPr sz="1400" b="0">
                <a:solidFill>
                  <a:srgbClr val="20242D"/>
                </a:solidFill>
                <a:latin typeface="Aptos"/>
              </a:rPr>
              <a:t>Higher test ROC-AUC than the original Random Forest, with recall increasing to 92.36%.</a:t>
            </a:r>
          </a:p>
        </p:txBody>
      </p:sp>
      <p:sp>
        <p:nvSpPr>
          <p:cNvPr id="8" name="TextBox 7"/>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13. Model Saving &amp; Prediction Workflow</a:t>
            </a:r>
          </a:p>
        </p:txBody>
      </p:sp>
      <p:sp>
        <p:nvSpPr>
          <p:cNvPr id="3" name="Content Placeholder 2"/>
          <p:cNvSpPr>
            <a:spLocks noGrp="1"/>
          </p:cNvSpPr>
          <p:nvPr>
            <p:ph idx="1"/>
          </p:nvPr>
        </p:nvSpPr>
        <p:spPr/>
        <p:txBody>
          <a:bodyPr wrap="square"/>
          <a:lstStyle/>
          <a:p>
            <a:pPr>
              <a:spcAft>
                <a:spcPts val="700"/>
              </a:spcAft>
            </a:pPr>
            <a:r>
              <a:rPr sz="1600">
                <a:solidFill>
                  <a:srgbClr val="20242D"/>
                </a:solidFill>
                <a:latin typeface="Aptos"/>
              </a:rPr>
              <a:t>The final tuned Random Forest pipeline was saved as: model/insurance_response_model.pkl.</a:t>
            </a:r>
          </a:p>
          <a:p>
            <a:pPr>
              <a:spcAft>
                <a:spcPts val="700"/>
              </a:spcAft>
            </a:pPr>
            <a:r>
              <a:rPr sz="1600">
                <a:solidFill>
                  <a:srgbClr val="20242D"/>
                </a:solidFill>
                <a:latin typeface="Aptos"/>
              </a:rPr>
              <a:t>The saved pipeline contains both preprocessing and the trained classifier, so new inputs go through the same transformations.</a:t>
            </a:r>
          </a:p>
          <a:p>
            <a:pPr>
              <a:spcAft>
                <a:spcPts val="700"/>
              </a:spcAft>
            </a:pPr>
            <a:r>
              <a:rPr sz="1600">
                <a:solidFill>
                  <a:srgbClr val="20242D"/>
                </a:solidFill>
                <a:latin typeface="Aptos"/>
              </a:rPr>
              <a:t>predict.py collects customer inputs, creates Vehicle_Age_Years and Age_Group, and calls predict_proba().</a:t>
            </a:r>
          </a:p>
          <a:p>
            <a:pPr>
              <a:spcAft>
                <a:spcPts val="700"/>
              </a:spcAft>
            </a:pPr>
            <a:r>
              <a:rPr sz="1600">
                <a:solidFill>
                  <a:srgbClr val="20242D"/>
                </a:solidFill>
                <a:latin typeface="Aptos"/>
              </a:rPr>
              <a:t>At the default classification threshold of 0.50, the probability is converted into a Yes/No response prediction.</a:t>
            </a:r>
          </a:p>
          <a:p>
            <a:pPr>
              <a:spcAft>
                <a:spcPts val="700"/>
              </a:spcAft>
            </a:pPr>
            <a:r>
              <a:rPr sz="1600">
                <a:solidFill>
                  <a:srgbClr val="20242D"/>
                </a:solidFill>
                <a:latin typeface="Aptos"/>
              </a:rPr>
              <a:t>A Streamlit interface was also prepared to provide an interactive front end for the prediction workflow.</a:t>
            </a:r>
          </a:p>
        </p:txBody>
      </p:sp>
      <p:sp>
        <p:nvSpPr>
          <p:cNvPr id="4" name="Rounded Rectangle 3"/>
          <p:cNvSpPr/>
          <p:nvPr/>
        </p:nvSpPr>
        <p:spPr>
          <a:xfrm>
            <a:off x="6675120" y="4343400"/>
            <a:ext cx="3931920" cy="132588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675120" y="4343400"/>
            <a:ext cx="73152" cy="132588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39712" y="4471416"/>
            <a:ext cx="3657600" cy="365760"/>
          </a:xfrm>
          <a:prstGeom prst="rect">
            <a:avLst/>
          </a:prstGeom>
          <a:noFill/>
        </p:spPr>
        <p:txBody>
          <a:bodyPr wrap="square" lIns="54864" tIns="54864" rIns="54864" bIns="54864">
            <a:spAutoFit/>
          </a:bodyPr>
          <a:lstStyle/>
          <a:p>
            <a:pPr algn="l"/>
            <a:r>
              <a:rPr sz="1700" b="1">
                <a:solidFill>
                  <a:srgbClr val="1F1F5B"/>
                </a:solidFill>
                <a:latin typeface="Aptos"/>
              </a:rPr>
              <a:t>Example test run</a:t>
            </a:r>
          </a:p>
        </p:txBody>
      </p:sp>
      <p:sp>
        <p:nvSpPr>
          <p:cNvPr id="7" name="TextBox 6"/>
          <p:cNvSpPr txBox="1"/>
          <p:nvPr/>
        </p:nvSpPr>
        <p:spPr>
          <a:xfrm>
            <a:off x="6839712" y="4873752"/>
            <a:ext cx="3657600" cy="704087"/>
          </a:xfrm>
          <a:prstGeom prst="rect">
            <a:avLst/>
          </a:prstGeom>
          <a:noFill/>
        </p:spPr>
        <p:txBody>
          <a:bodyPr wrap="square" lIns="54864" tIns="54864" rIns="54864" bIns="54864">
            <a:spAutoFit/>
          </a:bodyPr>
          <a:lstStyle/>
          <a:p>
            <a:pPr algn="l"/>
            <a:r>
              <a:rPr sz="1400" b="0">
                <a:solidFill>
                  <a:srgbClr val="20242D"/>
                </a:solidFill>
                <a:latin typeface="Aptos"/>
              </a:rPr>
              <a:t>Predicted Response: YES</a:t>
            </a:r>
            <a:br/>
            <a:r>
              <a:rPr sz="1400" b="0">
                <a:solidFill>
                  <a:srgbClr val="20242D"/>
                </a:solidFill>
                <a:latin typeface="Aptos"/>
              </a:rPr>
              <a:t>Estimated probability: 82.55%</a:t>
            </a:r>
            <a:br/>
            <a:r>
              <a:rPr sz="1400" b="0">
                <a:solidFill>
                  <a:srgbClr val="20242D"/>
                </a:solidFill>
                <a:latin typeface="Aptos"/>
              </a:rPr>
              <a:t>Threshold: 0.50</a:t>
            </a:r>
          </a:p>
        </p:txBody>
      </p:sp>
      <p:sp>
        <p:nvSpPr>
          <p:cNvPr id="8" name="TextBox 7"/>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14. Deployment Architecture</a:t>
            </a:r>
          </a:p>
        </p:txBody>
      </p:sp>
      <p:sp>
        <p:nvSpPr>
          <p:cNvPr id="3" name="Rounded Rectangle 2"/>
          <p:cNvSpPr/>
          <p:nvPr/>
        </p:nvSpPr>
        <p:spPr>
          <a:xfrm>
            <a:off x="594360" y="2057400"/>
            <a:ext cx="2148840" cy="14173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240280"/>
            <a:ext cx="1965960" cy="320040"/>
          </a:xfrm>
          <a:prstGeom prst="rect">
            <a:avLst/>
          </a:prstGeom>
          <a:noFill/>
        </p:spPr>
        <p:txBody>
          <a:bodyPr wrap="square" lIns="54864" tIns="54864" rIns="54864" bIns="54864">
            <a:spAutoFit/>
          </a:bodyPr>
          <a:lstStyle/>
          <a:p>
            <a:pPr algn="ctr"/>
            <a:r>
              <a:rPr sz="1500" b="1">
                <a:solidFill>
                  <a:srgbClr val="1F1F5B"/>
                </a:solidFill>
                <a:latin typeface="Aptos"/>
              </a:rPr>
              <a:t>User Inputs</a:t>
            </a:r>
          </a:p>
        </p:txBody>
      </p:sp>
      <p:sp>
        <p:nvSpPr>
          <p:cNvPr id="5" name="TextBox 4"/>
          <p:cNvSpPr txBox="1"/>
          <p:nvPr/>
        </p:nvSpPr>
        <p:spPr>
          <a:xfrm>
            <a:off x="685800" y="2651760"/>
            <a:ext cx="1965960" cy="640080"/>
          </a:xfrm>
          <a:prstGeom prst="rect">
            <a:avLst/>
          </a:prstGeom>
          <a:noFill/>
        </p:spPr>
        <p:txBody>
          <a:bodyPr wrap="square" lIns="54864" tIns="54864" rIns="54864" bIns="54864">
            <a:spAutoFit/>
          </a:bodyPr>
          <a:lstStyle/>
          <a:p>
            <a:pPr algn="ctr"/>
            <a:r>
              <a:rPr sz="1200" b="0">
                <a:solidFill>
                  <a:srgbClr val="20242D"/>
                </a:solidFill>
                <a:latin typeface="Aptos"/>
              </a:rPr>
              <a:t>Gender, Age,</a:t>
            </a:r>
            <a:br/>
            <a:r>
              <a:rPr sz="1200" b="0">
                <a:solidFill>
                  <a:srgbClr val="20242D"/>
                </a:solidFill>
                <a:latin typeface="Aptos"/>
              </a:rPr>
              <a:t>Vehicle &amp; policy data</a:t>
            </a:r>
          </a:p>
        </p:txBody>
      </p:sp>
      <p:cxnSp>
        <p:nvCxnSpPr>
          <p:cNvPr id="6" name="Connector 5"/>
          <p:cNvCxnSpPr/>
          <p:nvPr/>
        </p:nvCxnSpPr>
        <p:spPr>
          <a:xfrm>
            <a:off x="2743200" y="2770632"/>
            <a:ext cx="594360" cy="0"/>
          </a:xfrm>
          <a:prstGeom prst="line">
            <a:avLst/>
          </a:prstGeom>
          <a:ln w="25400">
            <a:solidFill>
              <a:srgbClr val="1068A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83279" y="2057400"/>
            <a:ext cx="2148840" cy="14173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0" y="2240280"/>
            <a:ext cx="1965960" cy="320040"/>
          </a:xfrm>
          <a:prstGeom prst="rect">
            <a:avLst/>
          </a:prstGeom>
          <a:noFill/>
        </p:spPr>
        <p:txBody>
          <a:bodyPr wrap="square" lIns="54864" tIns="54864" rIns="54864" bIns="54864">
            <a:spAutoFit/>
          </a:bodyPr>
          <a:lstStyle/>
          <a:p>
            <a:pPr algn="ctr"/>
            <a:r>
              <a:rPr sz="1500" b="1">
                <a:solidFill>
                  <a:srgbClr val="1F1F5B"/>
                </a:solidFill>
                <a:latin typeface="Aptos"/>
              </a:rPr>
              <a:t>Feature Engineering</a:t>
            </a:r>
          </a:p>
        </p:txBody>
      </p:sp>
      <p:sp>
        <p:nvSpPr>
          <p:cNvPr id="9" name="TextBox 8"/>
          <p:cNvSpPr txBox="1"/>
          <p:nvPr/>
        </p:nvSpPr>
        <p:spPr>
          <a:xfrm>
            <a:off x="3474720" y="2651760"/>
            <a:ext cx="1965960" cy="640080"/>
          </a:xfrm>
          <a:prstGeom prst="rect">
            <a:avLst/>
          </a:prstGeom>
          <a:noFill/>
        </p:spPr>
        <p:txBody>
          <a:bodyPr wrap="square" lIns="54864" tIns="54864" rIns="54864" bIns="54864">
            <a:spAutoFit/>
          </a:bodyPr>
          <a:lstStyle/>
          <a:p>
            <a:pPr algn="ctr"/>
            <a:r>
              <a:rPr sz="1200" b="0">
                <a:solidFill>
                  <a:srgbClr val="20242D"/>
                </a:solidFill>
                <a:latin typeface="Aptos"/>
              </a:rPr>
              <a:t>Vehicle_Age_Years</a:t>
            </a:r>
            <a:br/>
            <a:r>
              <a:rPr sz="1200" b="0">
                <a:solidFill>
                  <a:srgbClr val="20242D"/>
                </a:solidFill>
                <a:latin typeface="Aptos"/>
              </a:rPr>
              <a:t>Age_Group</a:t>
            </a:r>
          </a:p>
        </p:txBody>
      </p:sp>
      <p:cxnSp>
        <p:nvCxnSpPr>
          <p:cNvPr id="10" name="Connector 9"/>
          <p:cNvCxnSpPr/>
          <p:nvPr/>
        </p:nvCxnSpPr>
        <p:spPr>
          <a:xfrm>
            <a:off x="5532120" y="2770632"/>
            <a:ext cx="594359" cy="0"/>
          </a:xfrm>
          <a:prstGeom prst="line">
            <a:avLst/>
          </a:prstGeom>
          <a:ln w="25400">
            <a:solidFill>
              <a:srgbClr val="1068A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72200" y="2057400"/>
            <a:ext cx="2148840" cy="14173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2240280"/>
            <a:ext cx="1965960" cy="320040"/>
          </a:xfrm>
          <a:prstGeom prst="rect">
            <a:avLst/>
          </a:prstGeom>
          <a:noFill/>
        </p:spPr>
        <p:txBody>
          <a:bodyPr wrap="square" lIns="54864" tIns="54864" rIns="54864" bIns="54864">
            <a:spAutoFit/>
          </a:bodyPr>
          <a:lstStyle/>
          <a:p>
            <a:pPr algn="ctr"/>
            <a:r>
              <a:rPr sz="1500" b="1">
                <a:solidFill>
                  <a:srgbClr val="1F1F5B"/>
                </a:solidFill>
                <a:latin typeface="Aptos"/>
              </a:rPr>
              <a:t>Saved Pipeline</a:t>
            </a:r>
          </a:p>
        </p:txBody>
      </p:sp>
      <p:sp>
        <p:nvSpPr>
          <p:cNvPr id="13" name="TextBox 12"/>
          <p:cNvSpPr txBox="1"/>
          <p:nvPr/>
        </p:nvSpPr>
        <p:spPr>
          <a:xfrm>
            <a:off x="6263640" y="2651760"/>
            <a:ext cx="1965960" cy="640080"/>
          </a:xfrm>
          <a:prstGeom prst="rect">
            <a:avLst/>
          </a:prstGeom>
          <a:noFill/>
        </p:spPr>
        <p:txBody>
          <a:bodyPr wrap="square" lIns="54864" tIns="54864" rIns="54864" bIns="54864">
            <a:spAutoFit/>
          </a:bodyPr>
          <a:lstStyle/>
          <a:p>
            <a:pPr algn="ctr"/>
            <a:r>
              <a:rPr sz="1200" b="0">
                <a:solidFill>
                  <a:srgbClr val="20242D"/>
                </a:solidFill>
                <a:latin typeface="Aptos"/>
              </a:rPr>
              <a:t>Scaler + OneHotEncoder</a:t>
            </a:r>
            <a:br/>
            <a:r>
              <a:rPr sz="1200" b="0">
                <a:solidFill>
                  <a:srgbClr val="20242D"/>
                </a:solidFill>
                <a:latin typeface="Aptos"/>
              </a:rPr>
              <a:t>+ Tuned Random Forest</a:t>
            </a:r>
          </a:p>
        </p:txBody>
      </p:sp>
      <p:cxnSp>
        <p:nvCxnSpPr>
          <p:cNvPr id="14" name="Connector 13"/>
          <p:cNvCxnSpPr/>
          <p:nvPr/>
        </p:nvCxnSpPr>
        <p:spPr>
          <a:xfrm>
            <a:off x="8321040" y="2770632"/>
            <a:ext cx="594360" cy="0"/>
          </a:xfrm>
          <a:prstGeom prst="line">
            <a:avLst/>
          </a:prstGeom>
          <a:ln w="25400">
            <a:solidFill>
              <a:srgbClr val="1068A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961119" y="2057400"/>
            <a:ext cx="2148840" cy="1417320"/>
          </a:xfrm>
          <a:prstGeom prst="roundRect">
            <a:avLst/>
          </a:prstGeom>
          <a:solidFill>
            <a:srgbClr val="F3F6FA"/>
          </a:solidFill>
          <a:ln>
            <a:solidFill>
              <a:srgbClr val="106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59" y="2240280"/>
            <a:ext cx="1965960" cy="320040"/>
          </a:xfrm>
          <a:prstGeom prst="rect">
            <a:avLst/>
          </a:prstGeom>
          <a:noFill/>
        </p:spPr>
        <p:txBody>
          <a:bodyPr wrap="square" lIns="54864" tIns="54864" rIns="54864" bIns="54864">
            <a:spAutoFit/>
          </a:bodyPr>
          <a:lstStyle/>
          <a:p>
            <a:pPr algn="ctr"/>
            <a:r>
              <a:rPr sz="1500" b="1">
                <a:solidFill>
                  <a:srgbClr val="1F1F5B"/>
                </a:solidFill>
                <a:latin typeface="Aptos"/>
              </a:rPr>
              <a:t>Prediction</a:t>
            </a:r>
          </a:p>
        </p:txBody>
      </p:sp>
      <p:sp>
        <p:nvSpPr>
          <p:cNvPr id="17" name="TextBox 16"/>
          <p:cNvSpPr txBox="1"/>
          <p:nvPr/>
        </p:nvSpPr>
        <p:spPr>
          <a:xfrm>
            <a:off x="9052559" y="2651760"/>
            <a:ext cx="1965960" cy="640080"/>
          </a:xfrm>
          <a:prstGeom prst="rect">
            <a:avLst/>
          </a:prstGeom>
          <a:noFill/>
        </p:spPr>
        <p:txBody>
          <a:bodyPr wrap="square" lIns="54864" tIns="54864" rIns="54864" bIns="54864">
            <a:spAutoFit/>
          </a:bodyPr>
          <a:lstStyle/>
          <a:p>
            <a:pPr algn="ctr"/>
            <a:r>
              <a:rPr sz="1200" b="0">
                <a:solidFill>
                  <a:srgbClr val="20242D"/>
                </a:solidFill>
                <a:latin typeface="Aptos"/>
              </a:rPr>
              <a:t>Probability +</a:t>
            </a:r>
            <a:br/>
            <a:r>
              <a:rPr sz="1200" b="0">
                <a:solidFill>
                  <a:srgbClr val="20242D"/>
                </a:solidFill>
                <a:latin typeface="Aptos"/>
              </a:rPr>
              <a:t>YES / NO response</a:t>
            </a:r>
          </a:p>
        </p:txBody>
      </p:sp>
      <p:sp>
        <p:nvSpPr>
          <p:cNvPr id="18" name="TextBox 17"/>
          <p:cNvSpPr txBox="1"/>
          <p:nvPr/>
        </p:nvSpPr>
        <p:spPr>
          <a:xfrm>
            <a:off x="1280160" y="4206240"/>
            <a:ext cx="9052560" cy="731520"/>
          </a:xfrm>
          <a:prstGeom prst="rect">
            <a:avLst/>
          </a:prstGeom>
          <a:solidFill>
            <a:srgbClr val="F3F6FA"/>
          </a:solidFill>
          <a:ln>
            <a:solidFill>
              <a:srgbClr val="F3F6FA"/>
            </a:solidFill>
          </a:ln>
        </p:spPr>
        <p:txBody>
          <a:bodyPr wrap="square" lIns="54864" tIns="54864" rIns="54864" bIns="54864">
            <a:spAutoFit/>
          </a:bodyPr>
          <a:lstStyle/>
          <a:p>
            <a:pPr algn="ctr"/>
            <a:r>
              <a:rPr sz="1700" b="1">
                <a:solidFill>
                  <a:srgbClr val="1F1F5B"/>
                </a:solidFill>
                <a:latin typeface="Aptos"/>
              </a:rPr>
              <a:t>This makes the project usable beyond the notebook: the trained model can be loaded and applied to new customer records.</a:t>
            </a:r>
          </a:p>
        </p:txBody>
      </p:sp>
      <p:sp>
        <p:nvSpPr>
          <p:cNvPr id="19" name="TextBox 18"/>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15. Limitations &amp; Future Improvements</a:t>
            </a:r>
          </a:p>
        </p:txBody>
      </p:sp>
      <p:sp>
        <p:nvSpPr>
          <p:cNvPr id="3" name="Content Placeholder 2"/>
          <p:cNvSpPr>
            <a:spLocks noGrp="1"/>
          </p:cNvSpPr>
          <p:nvPr>
            <p:ph idx="1"/>
          </p:nvPr>
        </p:nvSpPr>
        <p:spPr/>
        <p:txBody>
          <a:bodyPr wrap="square"/>
          <a:lstStyle/>
          <a:p>
            <a:pPr>
              <a:spcAft>
                <a:spcPts val="700"/>
              </a:spcAft>
            </a:pPr>
            <a:r>
              <a:rPr sz="1600">
                <a:solidFill>
                  <a:srgbClr val="20242D"/>
                </a:solidFill>
                <a:latin typeface="Aptos"/>
              </a:rPr>
              <a:t>The dataset is strongly imbalanced, so precision remains relatively low while recall is high.</a:t>
            </a:r>
          </a:p>
          <a:p>
            <a:pPr>
              <a:spcAft>
                <a:spcPts val="700"/>
              </a:spcAft>
            </a:pPr>
            <a:r>
              <a:rPr sz="1600">
                <a:solidFill>
                  <a:srgbClr val="20242D"/>
                </a:solidFill>
                <a:latin typeface="Aptos"/>
              </a:rPr>
              <a:t>The current threshold of 0.50 is a default operating point; threshold tuning can be used to balance campaign volume and missed responders.</a:t>
            </a:r>
          </a:p>
          <a:p>
            <a:pPr>
              <a:spcAft>
                <a:spcPts val="700"/>
              </a:spcAft>
            </a:pPr>
            <a:r>
              <a:rPr sz="1600">
                <a:solidFill>
                  <a:srgbClr val="20242D"/>
                </a:solidFill>
                <a:latin typeface="Aptos"/>
              </a:rPr>
              <a:t>Additional evaluation such as Precision-Recall AUC, calibration and business-cost analysis would provide deeper insight.</a:t>
            </a:r>
          </a:p>
          <a:p>
            <a:pPr>
              <a:spcAft>
                <a:spcPts val="700"/>
              </a:spcAft>
            </a:pPr>
            <a:r>
              <a:rPr sz="1600">
                <a:solidFill>
                  <a:srgbClr val="20242D"/>
                </a:solidFill>
                <a:latin typeface="Aptos"/>
              </a:rPr>
              <a:t>Future work could test more algorithms, class-imbalance techniques applied only to training data, and explainability methods such as SHAP.</a:t>
            </a:r>
          </a:p>
          <a:p>
            <a:pPr>
              <a:spcAft>
                <a:spcPts val="700"/>
              </a:spcAft>
            </a:pPr>
            <a:r>
              <a:rPr sz="1600">
                <a:solidFill>
                  <a:srgbClr val="20242D"/>
                </a:solidFill>
                <a:latin typeface="Aptos"/>
              </a:rPr>
              <a:t>Production deployment would also require monitoring for data drift, model performance and changing customer behavior.</a:t>
            </a:r>
          </a:p>
        </p:txBody>
      </p:sp>
      <p:sp>
        <p:nvSpPr>
          <p:cNvPr id="4" name="TextBox 3"/>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16. Conclusion</a:t>
            </a:r>
          </a:p>
        </p:txBody>
      </p:sp>
      <p:sp>
        <p:nvSpPr>
          <p:cNvPr id="3" name="Content Placeholder 2"/>
          <p:cNvSpPr>
            <a:spLocks noGrp="1"/>
          </p:cNvSpPr>
          <p:nvPr>
            <p:ph idx="1"/>
          </p:nvPr>
        </p:nvSpPr>
        <p:spPr/>
        <p:txBody>
          <a:bodyPr wrap="square"/>
          <a:lstStyle/>
          <a:p>
            <a:pPr>
              <a:spcAft>
                <a:spcPts val="700"/>
              </a:spcAft>
            </a:pPr>
            <a:r>
              <a:rPr sz="1700">
                <a:solidFill>
                  <a:srgbClr val="20242D"/>
                </a:solidFill>
                <a:latin typeface="Aptos"/>
              </a:rPr>
              <a:t>Built an end-to-end binary classification solution for insurance customer response prediction.</a:t>
            </a:r>
          </a:p>
          <a:p>
            <a:pPr>
              <a:spcAft>
                <a:spcPts val="700"/>
              </a:spcAft>
            </a:pPr>
            <a:r>
              <a:rPr sz="1700">
                <a:solidFill>
                  <a:srgbClr val="20242D"/>
                </a:solidFill>
                <a:latin typeface="Aptos"/>
              </a:rPr>
              <a:t>Performed data validation, EDA, preprocessing and feature engineering on 381,109 records.</a:t>
            </a:r>
          </a:p>
          <a:p>
            <a:pPr>
              <a:spcAft>
                <a:spcPts val="700"/>
              </a:spcAft>
            </a:pPr>
            <a:r>
              <a:rPr sz="1700">
                <a:solidFill>
                  <a:srgbClr val="20242D"/>
                </a:solidFill>
                <a:latin typeface="Aptos"/>
              </a:rPr>
              <a:t>Compared Logistic Regression, Decision Tree and Random Forest models using multiple evaluation metrics.</a:t>
            </a:r>
          </a:p>
          <a:p>
            <a:pPr>
              <a:spcAft>
                <a:spcPts val="700"/>
              </a:spcAft>
            </a:pPr>
            <a:r>
              <a:rPr sz="1700">
                <a:solidFill>
                  <a:srgbClr val="20242D"/>
                </a:solidFill>
                <a:latin typeface="Aptos"/>
              </a:rPr>
              <a:t>Used RandomizedSearchCV to tune the Random Forest with ROC-AUC as the optimization metric.</a:t>
            </a:r>
          </a:p>
          <a:p>
            <a:pPr>
              <a:spcAft>
                <a:spcPts val="700"/>
              </a:spcAft>
            </a:pPr>
            <a:r>
              <a:rPr sz="1700">
                <a:solidFill>
                  <a:srgbClr val="20242D"/>
                </a:solidFill>
                <a:latin typeface="Aptos"/>
              </a:rPr>
              <a:t>Saved the final model as a reusable .pkl pipeline and created a prediction workflow for new customers.</a:t>
            </a:r>
          </a:p>
          <a:p>
            <a:pPr>
              <a:spcAft>
                <a:spcPts val="700"/>
              </a:spcAft>
            </a:pPr>
            <a:r>
              <a:rPr sz="1700">
                <a:solidFill>
                  <a:srgbClr val="20242D"/>
                </a:solidFill>
                <a:latin typeface="Aptos"/>
              </a:rPr>
              <a:t>Key learning: for imbalanced classification, model evaluation should consider the business objective rather than accuracy alone.</a:t>
            </a:r>
          </a:p>
        </p:txBody>
      </p:sp>
      <p:sp>
        <p:nvSpPr>
          <p:cNvPr id="4" name="Rounded Rectangle 3"/>
          <p:cNvSpPr/>
          <p:nvPr/>
        </p:nvSpPr>
        <p:spPr>
          <a:xfrm>
            <a:off x="6629400" y="4343400"/>
            <a:ext cx="3977639" cy="132588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629400" y="4343400"/>
            <a:ext cx="73152" cy="1325880"/>
          </a:xfrm>
          <a:prstGeom prst="rect">
            <a:avLst/>
          </a:prstGeom>
          <a:solidFill>
            <a:srgbClr val="23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93992" y="4471416"/>
            <a:ext cx="3703320" cy="365760"/>
          </a:xfrm>
          <a:prstGeom prst="rect">
            <a:avLst/>
          </a:prstGeom>
          <a:noFill/>
        </p:spPr>
        <p:txBody>
          <a:bodyPr wrap="square" lIns="54864" tIns="54864" rIns="54864" bIns="54864">
            <a:spAutoFit/>
          </a:bodyPr>
          <a:lstStyle/>
          <a:p>
            <a:pPr algn="l"/>
            <a:r>
              <a:rPr sz="1700" b="1">
                <a:solidFill>
                  <a:srgbClr val="1F1F5B"/>
                </a:solidFill>
                <a:latin typeface="Aptos"/>
              </a:rPr>
              <a:t>Final test ROC-AUC</a:t>
            </a:r>
          </a:p>
        </p:txBody>
      </p:sp>
      <p:sp>
        <p:nvSpPr>
          <p:cNvPr id="7" name="TextBox 6"/>
          <p:cNvSpPr txBox="1"/>
          <p:nvPr/>
        </p:nvSpPr>
        <p:spPr>
          <a:xfrm>
            <a:off x="6793992" y="4873752"/>
            <a:ext cx="3703320" cy="704087"/>
          </a:xfrm>
          <a:prstGeom prst="rect">
            <a:avLst/>
          </a:prstGeom>
          <a:noFill/>
        </p:spPr>
        <p:txBody>
          <a:bodyPr wrap="square" lIns="54864" tIns="54864" rIns="54864" bIns="54864">
            <a:spAutoFit/>
          </a:bodyPr>
          <a:lstStyle/>
          <a:p>
            <a:pPr algn="l"/>
            <a:r>
              <a:rPr sz="1400" b="0">
                <a:solidFill>
                  <a:srgbClr val="20242D"/>
                </a:solidFill>
                <a:latin typeface="Aptos"/>
              </a:rPr>
              <a:t>0.8544</a:t>
            </a:r>
            <a:br/>
            <a:r>
              <a:rPr sz="1400" b="0">
                <a:solidFill>
                  <a:srgbClr val="20242D"/>
                </a:solidFill>
                <a:latin typeface="Aptos"/>
              </a:rPr>
              <a:t>Tuned Random Forest</a:t>
            </a:r>
          </a:p>
        </p:txBody>
      </p:sp>
      <p:sp>
        <p:nvSpPr>
          <p:cNvPr id="8" name="TextBox 7"/>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9C7EAF-B69B-2C9A-4561-D251EBA64015}"/>
              </a:ext>
            </a:extLst>
          </p:cNvPr>
          <p:cNvSpPr txBox="1"/>
          <p:nvPr/>
        </p:nvSpPr>
        <p:spPr>
          <a:xfrm>
            <a:off x="1060848" y="1997839"/>
            <a:ext cx="4354116" cy="2862322"/>
          </a:xfrm>
          <a:prstGeom prst="rect">
            <a:avLst/>
          </a:prstGeom>
          <a:noFill/>
        </p:spPr>
        <p:txBody>
          <a:bodyPr wrap="square">
            <a:spAutoFit/>
          </a:bodyPr>
          <a:lstStyle/>
          <a:p>
            <a:r>
              <a:rPr lang="en-US" dirty="0"/>
              <a:t>Gender: Male</a:t>
            </a:r>
          </a:p>
          <a:p>
            <a:r>
              <a:rPr lang="en-US" dirty="0"/>
              <a:t>Age: 35 </a:t>
            </a:r>
          </a:p>
          <a:p>
            <a:r>
              <a:rPr lang="en-US" dirty="0"/>
              <a:t>Driving License: 1 </a:t>
            </a:r>
          </a:p>
          <a:p>
            <a:r>
              <a:rPr lang="en-US" dirty="0"/>
              <a:t>Region Code: 28 </a:t>
            </a:r>
          </a:p>
          <a:p>
            <a:r>
              <a:rPr lang="en-US" dirty="0"/>
              <a:t>Previously Insured: 0 </a:t>
            </a:r>
          </a:p>
          <a:p>
            <a:r>
              <a:rPr lang="en-US" dirty="0"/>
              <a:t>Vehicle Age: 1-2 Year </a:t>
            </a:r>
          </a:p>
          <a:p>
            <a:r>
              <a:rPr lang="en-US" dirty="0"/>
              <a:t>Vehicle Damage: Yes </a:t>
            </a:r>
          </a:p>
          <a:p>
            <a:r>
              <a:rPr lang="en-US" dirty="0"/>
              <a:t>Annual Premium: 35000 </a:t>
            </a:r>
          </a:p>
          <a:p>
            <a:r>
              <a:rPr lang="en-US" dirty="0"/>
              <a:t>Policy Sales Channel: 26 </a:t>
            </a:r>
          </a:p>
          <a:p>
            <a:r>
              <a:rPr lang="en-US" dirty="0"/>
              <a:t>Vintage: 150</a:t>
            </a:r>
            <a:endParaRPr lang="en-IN" dirty="0"/>
          </a:p>
        </p:txBody>
      </p:sp>
      <p:sp>
        <p:nvSpPr>
          <p:cNvPr id="5" name="TextBox 4">
            <a:extLst>
              <a:ext uri="{FF2B5EF4-FFF2-40B4-BE49-F238E27FC236}">
                <a16:creationId xmlns:a16="http://schemas.microsoft.com/office/drawing/2014/main" id="{8FDC3E71-B603-ED4E-7419-E2B10158C819}"/>
              </a:ext>
            </a:extLst>
          </p:cNvPr>
          <p:cNvSpPr txBox="1"/>
          <p:nvPr/>
        </p:nvSpPr>
        <p:spPr>
          <a:xfrm>
            <a:off x="1060848" y="1215509"/>
            <a:ext cx="6093618" cy="523220"/>
          </a:xfrm>
          <a:prstGeom prst="rect">
            <a:avLst/>
          </a:prstGeom>
          <a:noFill/>
        </p:spPr>
        <p:txBody>
          <a:bodyPr wrap="square">
            <a:spAutoFit/>
          </a:bodyPr>
          <a:lstStyle/>
          <a:p>
            <a:r>
              <a:rPr lang="en-IN" sz="2800" b="1" dirty="0">
                <a:solidFill>
                  <a:srgbClr val="21275D"/>
                </a:solidFill>
              </a:rPr>
              <a:t>Try this test customer on </a:t>
            </a:r>
            <a:r>
              <a:rPr lang="en-IN" sz="2800" b="1" dirty="0" err="1">
                <a:solidFill>
                  <a:srgbClr val="21275D"/>
                </a:solidFill>
              </a:rPr>
              <a:t>Streamlit</a:t>
            </a:r>
            <a:endParaRPr lang="en-IN" sz="2800" b="1" dirty="0">
              <a:solidFill>
                <a:srgbClr val="21275D"/>
              </a:solidFill>
            </a:endParaRPr>
          </a:p>
        </p:txBody>
      </p:sp>
    </p:spTree>
    <p:extLst>
      <p:ext uri="{BB962C8B-B14F-4D97-AF65-F5344CB8AC3E}">
        <p14:creationId xmlns:p14="http://schemas.microsoft.com/office/powerpoint/2010/main" val="2507922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a:solidFill>
                  <a:srgbClr val="1F1F5B"/>
                </a:solidFill>
                <a:latin typeface="Aptos"/>
              </a:rPr>
              <a:t>Questions?</a:t>
            </a:r>
          </a:p>
        </p:txBody>
      </p:sp>
      <p:sp>
        <p:nvSpPr>
          <p:cNvPr id="3" name="Text Placeholder 2"/>
          <p:cNvSpPr>
            <a:spLocks noGrp="1"/>
          </p:cNvSpPr>
          <p:nvPr>
            <p:ph type="body" idx="1"/>
          </p:nvPr>
        </p:nvSpPr>
        <p:spPr>
          <a:xfrm>
            <a:off x="678883" y="6043932"/>
            <a:ext cx="10834234" cy="45719"/>
          </a:xfrm>
        </p:spPr>
        <p:txBody>
          <a:bodyPr>
            <a:normAutofit fontScale="25000" lnSpcReduction="20000"/>
          </a:bodyPr>
          <a:lstStyle/>
          <a:p>
            <a:endParaRPr dirty="0"/>
          </a:p>
        </p:txBody>
      </p:sp>
      <p:sp>
        <p:nvSpPr>
          <p:cNvPr id="4" name="TextBox 3"/>
          <p:cNvSpPr txBox="1"/>
          <p:nvPr/>
        </p:nvSpPr>
        <p:spPr>
          <a:xfrm>
            <a:off x="2971800" y="2377440"/>
            <a:ext cx="5486400" cy="914400"/>
          </a:xfrm>
          <a:prstGeom prst="rect">
            <a:avLst/>
          </a:prstGeom>
          <a:noFill/>
        </p:spPr>
        <p:txBody>
          <a:bodyPr wrap="square" lIns="54864" tIns="54864" rIns="54864" bIns="54864">
            <a:spAutoFit/>
          </a:bodyPr>
          <a:lstStyle/>
          <a:p>
            <a:pPr algn="ctr"/>
            <a:r>
              <a:rPr sz="2000" b="0">
                <a:solidFill>
                  <a:srgbClr val="1F1F5B"/>
                </a:solidFill>
                <a:latin typeface="Aptos"/>
              </a:rPr>
              <a:t>I am happy to explain the data, model, evaluation, tuning or deployment workflow.</a:t>
            </a:r>
          </a:p>
        </p:txBody>
      </p:sp>
      <p:sp>
        <p:nvSpPr>
          <p:cNvPr id="5" name="TextBox 4"/>
          <p:cNvSpPr txBox="1"/>
          <p:nvPr/>
        </p:nvSpPr>
        <p:spPr>
          <a:xfrm>
            <a:off x="10561320" y="6446520"/>
            <a:ext cx="411480" cy="228600"/>
          </a:xfrm>
          <a:prstGeom prst="rect">
            <a:avLst/>
          </a:prstGeom>
          <a:noFill/>
        </p:spPr>
        <p:txBody>
          <a:bodyPr wrap="square" lIns="54864" tIns="54864" rIns="54864" bIns="54864">
            <a:spAutoFit/>
          </a:bodyPr>
          <a:lstStyle/>
          <a:p>
            <a:pPr algn="r"/>
            <a:r>
              <a:rPr sz="800" b="0">
                <a:solidFill>
                  <a:srgbClr val="5C636E"/>
                </a:solidFill>
                <a:latin typeface="Aptos"/>
              </a:rPr>
              <a:t>19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82A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0" y="2423160"/>
            <a:ext cx="8229600" cy="914400"/>
          </a:xfrm>
          <a:prstGeom prst="rect">
            <a:avLst/>
          </a:prstGeom>
          <a:noFill/>
        </p:spPr>
        <p:txBody>
          <a:bodyPr wrap="square" lIns="54864" tIns="54864" rIns="54864" bIns="54864">
            <a:spAutoFit/>
          </a:bodyPr>
          <a:lstStyle/>
          <a:p>
            <a:pPr algn="ctr"/>
            <a:r>
              <a:rPr sz="3600" b="1">
                <a:solidFill>
                  <a:srgbClr val="FFFFFF"/>
                </a:solidFill>
                <a:latin typeface="Aptos"/>
              </a:rPr>
              <a:t>Thank You!</a:t>
            </a:r>
          </a:p>
        </p:txBody>
      </p:sp>
      <p:sp>
        <p:nvSpPr>
          <p:cNvPr id="4" name="TextBox 3"/>
          <p:cNvSpPr txBox="1"/>
          <p:nvPr/>
        </p:nvSpPr>
        <p:spPr>
          <a:xfrm>
            <a:off x="2834640" y="4023360"/>
            <a:ext cx="5669280" cy="457200"/>
          </a:xfrm>
          <a:prstGeom prst="rect">
            <a:avLst/>
          </a:prstGeom>
          <a:noFill/>
        </p:spPr>
        <p:txBody>
          <a:bodyPr wrap="square" lIns="54864" tIns="54864" rIns="54864" bIns="54864">
            <a:spAutoFit/>
          </a:bodyPr>
          <a:lstStyle/>
          <a:p>
            <a:pPr algn="ctr"/>
            <a:r>
              <a:rPr sz="1500" b="0">
                <a:solidFill>
                  <a:srgbClr val="FFFFFF"/>
                </a:solidFill>
                <a:latin typeface="Aptos"/>
              </a:rPr>
              <a:t>Insurance Customer Response Prediction Using Machine Learning</a:t>
            </a: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6944</TotalTime>
  <Words>1815</Words>
  <Application>Microsoft Office PowerPoint</Application>
  <PresentationFormat>Widescreen</PresentationFormat>
  <Paragraphs>247</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Calibri</vt:lpstr>
      <vt:lpstr>BIA Template</vt:lpstr>
      <vt:lpstr>PowerPoint Presentation</vt:lpstr>
      <vt:lpstr>Agenda</vt:lpstr>
      <vt:lpstr>1. Business Problem &amp; Objective</vt:lpstr>
      <vt:lpstr>2. Dataset Overview</vt:lpstr>
      <vt:lpstr>3. Data Quality &amp; Class Imbalance</vt:lpstr>
      <vt:lpstr>4. Exploratory Data Analysis — Key Findings</vt:lpstr>
      <vt:lpstr>EDA Visualization</vt:lpstr>
      <vt:lpstr>EDA Visualization</vt:lpstr>
      <vt:lpstr>EDA Visualization </vt:lpstr>
      <vt:lpstr>EDA Visualization</vt:lpstr>
      <vt:lpstr>Correlation Matrix Heatmap</vt:lpstr>
      <vt:lpstr>Random Forest feature-importance analysis</vt:lpstr>
      <vt:lpstr>5. Data Preprocessing</vt:lpstr>
      <vt:lpstr>6. Feature Engineering</vt:lpstr>
      <vt:lpstr>7. End-to-End Machine Learning Workflow</vt:lpstr>
      <vt:lpstr>8. Model Building</vt:lpstr>
      <vt:lpstr>9. Model Evaluation — Comparison</vt:lpstr>
      <vt:lpstr>10. Evaluation Deep Dive — Class Imbalance</vt:lpstr>
      <vt:lpstr>11. Feature Importance — Random Forest</vt:lpstr>
      <vt:lpstr>12. Random Forest Hyperparameter Tuning</vt:lpstr>
      <vt:lpstr>13. Model Saving &amp; Prediction Workflow</vt:lpstr>
      <vt:lpstr>14. Deployment Architecture</vt:lpstr>
      <vt:lpstr>15. Limitations &amp; Future Improvements</vt:lpstr>
      <vt:lpstr>16. Conclusion</vt:lpstr>
      <vt:lpstr>PowerPoint Presentation</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Customer Response Prediction Using Machine Learning</dc:title>
  <dc:subject>Capstone Project Presentation</dc:subject>
  <dc:creator>Capstone Project</dc:creator>
  <cp:keywords>Insurance, Machine Learning, Classification, Random Forest, Customer Response</cp:keywords>
  <cp:lastModifiedBy>ADARSH GN</cp:lastModifiedBy>
  <cp:revision>2276</cp:revision>
  <dcterms:created xsi:type="dcterms:W3CDTF">2020-12-23T13:36:00Z</dcterms:created>
  <dcterms:modified xsi:type="dcterms:W3CDTF">2026-09-26T11:21:46Z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